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this is an EDA of the public Netflix titles dataset - 6,131 movies and 2,676 TV shows listed up to September 2021.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Structure of the talk follows these five questions. The dataset description and the project guidelines came with the zip.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only genuine data error is the three shifted rows. Everything else is missing data that we label rather than guess.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6,131 movies, 2,676 TV shows. Be careful to say this is title count, not hours watched.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Additions before 2015 are tiny. The jump from 2016 to 2017 alone is 429 to 1,188. The 2020 dip may relate to the pandemic but the data cannot prove that. 2021 is a partial year.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 bars are titles added within a year of release. The long grey tail on the right is older back-catalogue. The last bar groups everything 20+ years old.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Co-productions are counted once per country, so these bars add up to more than the number of titles. Country is blank for about 9% of titles.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Mix by country among the top eight. The US sits near the overall 70/30 average.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title can carry several genres, so bars overlap. Among TV, Crime TV Shows (470) and Kids' TV (451) are the next biggest after International, Dramas and Comedies.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 bands: Kids = TV-Y/Y7/G/G; Older Kids = TV-PG/PG; Teens = TV-14/PG-13; Adults = TV-MA/R/NC-17. The adult share has been steady around 45% since 2017.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Wide rather than deep: lots of short-run shows, few long-running series. Seasons chart is cut at 10; a handful of shows run longer (max 17).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Heatmap rows = year added, columns = month. January 2020 (205) and December 2019 (215) are also high.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Cast list is dominated by Indian film actors plus voice actors for dubbed anime and kids' shows. Top directors include stand-up special directors (Jan Suter, Raul Campos).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findings, one line each.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1814"/>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55448" y="25603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55448" y="62179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55448" y="98755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5448" y="135331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5448" y="171907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5448" y="2084831"/>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55448" y="2450591"/>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5448" y="2816351"/>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55448" y="3182111"/>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55448" y="3547871"/>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55448" y="3913631"/>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55448" y="427939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55448" y="464515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55448" y="501091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55448" y="537667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55448" y="574243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5448" y="610819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55448" y="647395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640080"/>
            <a:ext cx="7315200" cy="274320"/>
          </a:xfrm>
          <a:prstGeom prst="rect">
            <a:avLst/>
          </a:prstGeom>
          <a:noFill/>
        </p:spPr>
        <p:txBody>
          <a:bodyPr wrap="square" lIns="0" rIns="0" tIns="0" bIns="0" anchor="t">
            <a:spAutoFit/>
          </a:bodyPr>
          <a:lstStyle/>
          <a:p>
            <a:pPr algn="l"/>
            <a:r>
              <a:rPr sz="1300" b="1" i="0">
                <a:solidFill>
                  <a:srgbClr val="D69E2E"/>
                </a:solidFill>
                <a:latin typeface="Courier New"/>
              </a:rPr>
              <a:t>EXPLORATORY DATA ANALYSIS  /  NETFLIX CATALOGUE</a:t>
            </a:r>
          </a:p>
        </p:txBody>
      </p:sp>
      <p:sp>
        <p:nvSpPr>
          <p:cNvPr id="22" name="TextBox 21"/>
          <p:cNvSpPr txBox="1"/>
          <p:nvPr/>
        </p:nvSpPr>
        <p:spPr>
          <a:xfrm>
            <a:off x="1005840" y="1234440"/>
            <a:ext cx="8229600" cy="2377440"/>
          </a:xfrm>
          <a:prstGeom prst="rect">
            <a:avLst/>
          </a:prstGeom>
          <a:noFill/>
        </p:spPr>
        <p:txBody>
          <a:bodyPr wrap="square" lIns="0" rIns="0" tIns="0" bIns="0" anchor="t">
            <a:spAutoFit/>
          </a:bodyPr>
          <a:lstStyle/>
          <a:p>
            <a:pPr algn="l"/>
            <a:r>
              <a:rPr sz="15000" b="1" i="0">
                <a:solidFill>
                  <a:srgbClr val="F3EBDC"/>
                </a:solidFill>
                <a:latin typeface="Georgia"/>
              </a:rPr>
              <a:t>8,807</a:t>
            </a:r>
          </a:p>
        </p:txBody>
      </p:sp>
      <p:sp>
        <p:nvSpPr>
          <p:cNvPr id="23" name="TextBox 22"/>
          <p:cNvSpPr txBox="1"/>
          <p:nvPr/>
        </p:nvSpPr>
        <p:spPr>
          <a:xfrm>
            <a:off x="1097280" y="3611880"/>
            <a:ext cx="8686800" cy="822960"/>
          </a:xfrm>
          <a:prstGeom prst="rect">
            <a:avLst/>
          </a:prstGeom>
          <a:noFill/>
        </p:spPr>
        <p:txBody>
          <a:bodyPr wrap="square" lIns="0" rIns="0" tIns="0" bIns="0" anchor="t">
            <a:spAutoFit/>
          </a:bodyPr>
          <a:lstStyle/>
          <a:p>
            <a:pPr algn="l"/>
            <a:r>
              <a:rPr sz="4400" b="1" i="1">
                <a:solidFill>
                  <a:srgbClr val="B3261E"/>
                </a:solidFill>
                <a:latin typeface="Georgia"/>
              </a:rPr>
              <a:t>titles, taken apart.</a:t>
            </a:r>
          </a:p>
        </p:txBody>
      </p:sp>
      <p:cxnSp>
        <p:nvCxnSpPr>
          <p:cNvPr id="24" name="Connector 23"/>
          <p:cNvCxnSpPr/>
          <p:nvPr/>
        </p:nvCxnSpPr>
        <p:spPr>
          <a:xfrm>
            <a:off x="1097280" y="4709160"/>
            <a:ext cx="3840480" cy="0"/>
          </a:xfrm>
          <a:prstGeom prst="line">
            <a:avLst/>
          </a:prstGeom>
          <a:ln w="19050">
            <a:solidFill>
              <a:srgbClr val="D69E2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97280" y="4892040"/>
            <a:ext cx="7772400" cy="914400"/>
          </a:xfrm>
          <a:prstGeom prst="rect">
            <a:avLst/>
          </a:prstGeom>
          <a:noFill/>
        </p:spPr>
        <p:txBody>
          <a:bodyPr wrap="square" lIns="0" rIns="0" tIns="0" bIns="0" anchor="t">
            <a:spAutoFit/>
          </a:bodyPr>
          <a:lstStyle/>
          <a:p>
            <a:pPr algn="l"/>
            <a:r>
              <a:rPr sz="1800" b="0" i="0">
                <a:solidFill>
                  <a:srgbClr val="F3EBDC"/>
                </a:solidFill>
                <a:latin typeface="Calibri"/>
              </a:rPr>
              <a:t>What is actually on Netflix, where it comes from,</a:t>
            </a:r>
          </a:p>
          <a:p>
            <a:pPr algn="l"/>
            <a:r>
              <a:rPr sz="1800" b="0" i="0">
                <a:solidFill>
                  <a:srgbClr val="F3EBDC"/>
                </a:solidFill>
                <a:latin typeface="Calibri"/>
              </a:rPr>
              <a:t>and how the library changed as the service grew.</a:t>
            </a:r>
          </a:p>
        </p:txBody>
      </p:sp>
      <p:sp>
        <p:nvSpPr>
          <p:cNvPr id="26" name="TextBox 25"/>
          <p:cNvSpPr txBox="1"/>
          <p:nvPr/>
        </p:nvSpPr>
        <p:spPr>
          <a:xfrm>
            <a:off x="1097280" y="6172200"/>
            <a:ext cx="8229600" cy="274320"/>
          </a:xfrm>
          <a:prstGeom prst="rect">
            <a:avLst/>
          </a:prstGeom>
          <a:noFill/>
        </p:spPr>
        <p:txBody>
          <a:bodyPr wrap="square" lIns="0" rIns="0" tIns="0" bIns="0" anchor="t">
            <a:spAutoFit/>
          </a:bodyPr>
          <a:lstStyle/>
          <a:p>
            <a:pPr algn="l"/>
            <a:r>
              <a:rPr sz="1100" b="0" i="0">
                <a:solidFill>
                  <a:srgbClr val="8C8173"/>
                </a:solidFill>
                <a:latin typeface="Courier New"/>
              </a:rPr>
              <a:t>Python  ·  pandas  ·  matplotlib   |   Data snapshot: January 2008 - September 2021</a:t>
            </a:r>
          </a:p>
        </p:txBody>
      </p:sp>
      <p:sp>
        <p:nvSpPr>
          <p:cNvPr id="27" name="Rectangle 26"/>
          <p:cNvSpPr/>
          <p:nvPr/>
        </p:nvSpPr>
        <p:spPr>
          <a:xfrm>
            <a:off x="9326880" y="1280160"/>
            <a:ext cx="2286000" cy="3840480"/>
          </a:xfrm>
          <a:prstGeom prst="rect">
            <a:avLst/>
          </a:prstGeom>
          <a:noFill/>
          <a:ln w="19050">
            <a:solidFill>
              <a:srgbClr val="D69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9326880" y="3840480"/>
            <a:ext cx="2286000" cy="0"/>
          </a:xfrm>
          <a:prstGeom prst="line">
            <a:avLst/>
          </a:prstGeom>
          <a:ln w="12700">
            <a:solidFill>
              <a:srgbClr val="D69E2E"/>
            </a:solidFill>
            <a:prstDash val="dash"/>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509760" y="1508760"/>
            <a:ext cx="1920240" cy="274320"/>
          </a:xfrm>
          <a:prstGeom prst="rect">
            <a:avLst/>
          </a:prstGeom>
          <a:noFill/>
        </p:spPr>
        <p:txBody>
          <a:bodyPr wrap="square" lIns="0" rIns="0" tIns="0" bIns="0" anchor="t">
            <a:spAutoFit/>
          </a:bodyPr>
          <a:lstStyle/>
          <a:p>
            <a:pPr algn="l"/>
            <a:r>
              <a:rPr sz="1200" b="1" i="0">
                <a:solidFill>
                  <a:srgbClr val="D69E2E"/>
                </a:solidFill>
                <a:latin typeface="Courier New"/>
              </a:rPr>
              <a:t>ADMIT ONE</a:t>
            </a:r>
          </a:p>
        </p:txBody>
      </p:sp>
      <p:sp>
        <p:nvSpPr>
          <p:cNvPr id="30" name="TextBox 29"/>
          <p:cNvSpPr txBox="1"/>
          <p:nvPr/>
        </p:nvSpPr>
        <p:spPr>
          <a:xfrm>
            <a:off x="9509760" y="1874519"/>
            <a:ext cx="1920240" cy="1463040"/>
          </a:xfrm>
          <a:prstGeom prst="rect">
            <a:avLst/>
          </a:prstGeom>
          <a:noFill/>
        </p:spPr>
        <p:txBody>
          <a:bodyPr wrap="square" lIns="0" rIns="0" tIns="0" bIns="0" anchor="t">
            <a:spAutoFit/>
          </a:bodyPr>
          <a:lstStyle/>
          <a:p>
            <a:pPr algn="l"/>
            <a:r>
              <a:rPr sz="2600" b="1" i="0">
                <a:solidFill>
                  <a:srgbClr val="F3EBDC"/>
                </a:solidFill>
                <a:latin typeface="Georgia"/>
              </a:rPr>
              <a:t>6,131</a:t>
            </a:r>
          </a:p>
          <a:p>
            <a:pPr algn="l"/>
            <a:r>
              <a:rPr sz="2600" b="1" i="0">
                <a:solidFill>
                  <a:srgbClr val="F3EBDC"/>
                </a:solidFill>
                <a:latin typeface="Georgia"/>
              </a:rPr>
              <a:t>movies</a:t>
            </a:r>
          </a:p>
        </p:txBody>
      </p:sp>
      <p:sp>
        <p:nvSpPr>
          <p:cNvPr id="31" name="TextBox 30"/>
          <p:cNvSpPr txBox="1"/>
          <p:nvPr/>
        </p:nvSpPr>
        <p:spPr>
          <a:xfrm>
            <a:off x="9509760" y="2926080"/>
            <a:ext cx="1920240" cy="731520"/>
          </a:xfrm>
          <a:prstGeom prst="rect">
            <a:avLst/>
          </a:prstGeom>
          <a:noFill/>
        </p:spPr>
        <p:txBody>
          <a:bodyPr wrap="square" lIns="0" rIns="0" tIns="0" bIns="0" anchor="t">
            <a:spAutoFit/>
          </a:bodyPr>
          <a:lstStyle/>
          <a:p>
            <a:pPr algn="l"/>
            <a:r>
              <a:rPr sz="2600" b="1" i="0">
                <a:solidFill>
                  <a:srgbClr val="D69E2E"/>
                </a:solidFill>
                <a:latin typeface="Georgia"/>
              </a:rPr>
              <a:t>2,676</a:t>
            </a:r>
          </a:p>
          <a:p>
            <a:pPr algn="l"/>
            <a:r>
              <a:rPr sz="2600" b="1" i="0">
                <a:solidFill>
                  <a:srgbClr val="D69E2E"/>
                </a:solidFill>
                <a:latin typeface="Georgia"/>
              </a:rPr>
              <a:t>TV shows</a:t>
            </a:r>
          </a:p>
        </p:txBody>
      </p:sp>
      <p:sp>
        <p:nvSpPr>
          <p:cNvPr id="32" name="TextBox 31"/>
          <p:cNvSpPr txBox="1"/>
          <p:nvPr/>
        </p:nvSpPr>
        <p:spPr>
          <a:xfrm>
            <a:off x="9509760" y="4069080"/>
            <a:ext cx="1920240" cy="914400"/>
          </a:xfrm>
          <a:prstGeom prst="rect">
            <a:avLst/>
          </a:prstGeom>
          <a:noFill/>
        </p:spPr>
        <p:txBody>
          <a:bodyPr wrap="square" lIns="0" rIns="0" tIns="0" bIns="0" anchor="t">
            <a:spAutoFit/>
          </a:bodyPr>
          <a:lstStyle/>
          <a:p>
            <a:pPr algn="l"/>
            <a:r>
              <a:rPr sz="1200" b="0" i="0">
                <a:solidFill>
                  <a:srgbClr val="F3EBDC"/>
                </a:solidFill>
                <a:latin typeface="Courier New"/>
              </a:rPr>
              <a:t>122 countries</a:t>
            </a:r>
          </a:p>
          <a:p>
            <a:pPr algn="l"/>
            <a:r>
              <a:rPr sz="1200" b="0" i="0">
                <a:solidFill>
                  <a:srgbClr val="F3EBDC"/>
                </a:solidFill>
                <a:latin typeface="Courier New"/>
              </a:rPr>
              <a:t>42 genres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EBDC"/>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55448" y="2560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55448" y="6217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55448" y="9875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5448" y="13533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5448" y="17190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5448" y="20848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55448" y="245059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5448" y="281635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55448" y="318211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55448" y="354787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55448" y="39136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55448" y="42793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55448" y="46451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55448" y="50109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55448" y="53766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55448" y="57424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5448" y="61081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55448" y="64739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7200"/>
            <a:ext cx="7315200" cy="274320"/>
          </a:xfrm>
          <a:prstGeom prst="rect">
            <a:avLst/>
          </a:prstGeom>
          <a:noFill/>
        </p:spPr>
        <p:txBody>
          <a:bodyPr wrap="square" lIns="0" rIns="0" tIns="0" bIns="0" anchor="t">
            <a:spAutoFit/>
          </a:bodyPr>
          <a:lstStyle/>
          <a:p>
            <a:pPr algn="l"/>
            <a:r>
              <a:rPr sz="1200" b="1" i="0">
                <a:solidFill>
                  <a:srgbClr val="B3261E"/>
                </a:solidFill>
                <a:latin typeface="Courier New"/>
              </a:rPr>
              <a:t>THE BRIEF</a:t>
            </a:r>
          </a:p>
        </p:txBody>
      </p:sp>
      <p:sp>
        <p:nvSpPr>
          <p:cNvPr id="22" name="TextBox 21"/>
          <p:cNvSpPr txBox="1"/>
          <p:nvPr/>
        </p:nvSpPr>
        <p:spPr>
          <a:xfrm>
            <a:off x="9509760" y="457200"/>
            <a:ext cx="2286000" cy="274320"/>
          </a:xfrm>
          <a:prstGeom prst="rect">
            <a:avLst/>
          </a:prstGeom>
          <a:noFill/>
        </p:spPr>
        <p:txBody>
          <a:bodyPr wrap="square" lIns="0" rIns="0" tIns="0" bIns="0" anchor="t">
            <a:spAutoFit/>
          </a:bodyPr>
          <a:lstStyle/>
          <a:p>
            <a:pPr algn="r"/>
            <a:r>
              <a:rPr sz="1100" b="0" i="0">
                <a:solidFill>
                  <a:srgbClr val="8C8173"/>
                </a:solidFill>
                <a:latin typeface="Courier New"/>
              </a:rPr>
              <a:t>REEL 02 / 15</a:t>
            </a:r>
          </a:p>
        </p:txBody>
      </p:sp>
      <p:sp>
        <p:nvSpPr>
          <p:cNvPr id="23" name="TextBox 22"/>
          <p:cNvSpPr txBox="1"/>
          <p:nvPr/>
        </p:nvSpPr>
        <p:spPr>
          <a:xfrm>
            <a:off x="868680" y="804672"/>
            <a:ext cx="10881360" cy="1188720"/>
          </a:xfrm>
          <a:prstGeom prst="rect">
            <a:avLst/>
          </a:prstGeom>
          <a:noFill/>
        </p:spPr>
        <p:txBody>
          <a:bodyPr wrap="square" lIns="0" rIns="0" tIns="0" bIns="0" anchor="t">
            <a:spAutoFit/>
          </a:bodyPr>
          <a:lstStyle/>
          <a:p>
            <a:pPr algn="l">
              <a:lnSpc>
                <a:spcPct val="95000"/>
              </a:lnSpc>
            </a:pPr>
            <a:r>
              <a:rPr sz="3000" b="1" i="0">
                <a:solidFill>
                  <a:srgbClr val="1C1814"/>
                </a:solidFill>
                <a:latin typeface="Georgia"/>
              </a:rPr>
              <a:t>One table, twelve columns, five questions</a:t>
            </a:r>
          </a:p>
        </p:txBody>
      </p:sp>
      <p:sp>
        <p:nvSpPr>
          <p:cNvPr id="24" name="Rectangle 23"/>
          <p:cNvSpPr/>
          <p:nvPr/>
        </p:nvSpPr>
        <p:spPr>
          <a:xfrm>
            <a:off x="868680" y="2148840"/>
            <a:ext cx="2514600" cy="1600200"/>
          </a:xfrm>
          <a:prstGeom prst="rect">
            <a:avLst/>
          </a:prstGeom>
          <a:noFill/>
          <a:ln w="19050">
            <a:solidFill>
              <a:srgbClr val="1C18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2286000"/>
            <a:ext cx="2194560" cy="640080"/>
          </a:xfrm>
          <a:prstGeom prst="rect">
            <a:avLst/>
          </a:prstGeom>
          <a:noFill/>
        </p:spPr>
        <p:txBody>
          <a:bodyPr wrap="square" lIns="0" rIns="0" tIns="0" bIns="0" anchor="t">
            <a:spAutoFit/>
          </a:bodyPr>
          <a:lstStyle/>
          <a:p>
            <a:pPr algn="l"/>
            <a:r>
              <a:rPr sz="3400" b="1" i="0">
                <a:solidFill>
                  <a:srgbClr val="B3261E"/>
                </a:solidFill>
                <a:latin typeface="Georgia"/>
              </a:rPr>
              <a:t>8,807</a:t>
            </a:r>
          </a:p>
        </p:txBody>
      </p:sp>
      <p:cxnSp>
        <p:nvCxnSpPr>
          <p:cNvPr id="26" name="Connector 25"/>
          <p:cNvCxnSpPr/>
          <p:nvPr/>
        </p:nvCxnSpPr>
        <p:spPr>
          <a:xfrm>
            <a:off x="1051560" y="3017520"/>
            <a:ext cx="2148840" cy="0"/>
          </a:xfrm>
          <a:prstGeom prst="line">
            <a:avLst/>
          </a:prstGeom>
          <a:ln w="9525">
            <a:solidFill>
              <a:srgbClr val="8C8173"/>
            </a:solidFill>
            <a:prstDash val="dash"/>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51560" y="3127248"/>
            <a:ext cx="2194560" cy="594360"/>
          </a:xfrm>
          <a:prstGeom prst="rect">
            <a:avLst/>
          </a:prstGeom>
          <a:noFill/>
        </p:spPr>
        <p:txBody>
          <a:bodyPr wrap="square" lIns="0" rIns="0" tIns="0" bIns="0" anchor="t">
            <a:spAutoFit/>
          </a:bodyPr>
          <a:lstStyle/>
          <a:p>
            <a:pPr algn="l"/>
            <a:r>
              <a:rPr sz="1200" b="0" i="0">
                <a:solidFill>
                  <a:srgbClr val="1C1814"/>
                </a:solidFill>
                <a:latin typeface="Calibri"/>
              </a:rPr>
              <a:t>rows, one per title</a:t>
            </a:r>
          </a:p>
        </p:txBody>
      </p:sp>
      <p:sp>
        <p:nvSpPr>
          <p:cNvPr id="28" name="Rectangle 27"/>
          <p:cNvSpPr/>
          <p:nvPr/>
        </p:nvSpPr>
        <p:spPr>
          <a:xfrm>
            <a:off x="3611880" y="2148840"/>
            <a:ext cx="2514600" cy="1600200"/>
          </a:xfrm>
          <a:prstGeom prst="rect">
            <a:avLst/>
          </a:prstGeom>
          <a:noFill/>
          <a:ln w="19050">
            <a:solidFill>
              <a:srgbClr val="1C18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94760" y="2286000"/>
            <a:ext cx="2194560" cy="640080"/>
          </a:xfrm>
          <a:prstGeom prst="rect">
            <a:avLst/>
          </a:prstGeom>
          <a:noFill/>
        </p:spPr>
        <p:txBody>
          <a:bodyPr wrap="square" lIns="0" rIns="0" tIns="0" bIns="0" anchor="t">
            <a:spAutoFit/>
          </a:bodyPr>
          <a:lstStyle/>
          <a:p>
            <a:pPr algn="l"/>
            <a:r>
              <a:rPr sz="3400" b="1" i="0">
                <a:solidFill>
                  <a:srgbClr val="B3261E"/>
                </a:solidFill>
                <a:latin typeface="Georgia"/>
              </a:rPr>
              <a:t>12</a:t>
            </a:r>
          </a:p>
        </p:txBody>
      </p:sp>
      <p:cxnSp>
        <p:nvCxnSpPr>
          <p:cNvPr id="30" name="Connector 29"/>
          <p:cNvCxnSpPr/>
          <p:nvPr/>
        </p:nvCxnSpPr>
        <p:spPr>
          <a:xfrm>
            <a:off x="3794760" y="3017520"/>
            <a:ext cx="2148840" cy="0"/>
          </a:xfrm>
          <a:prstGeom prst="line">
            <a:avLst/>
          </a:prstGeom>
          <a:ln w="9525">
            <a:solidFill>
              <a:srgbClr val="8C8173"/>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794760" y="3127248"/>
            <a:ext cx="2194560" cy="594360"/>
          </a:xfrm>
          <a:prstGeom prst="rect">
            <a:avLst/>
          </a:prstGeom>
          <a:noFill/>
        </p:spPr>
        <p:txBody>
          <a:bodyPr wrap="square" lIns="0" rIns="0" tIns="0" bIns="0" anchor="t">
            <a:spAutoFit/>
          </a:bodyPr>
          <a:lstStyle/>
          <a:p>
            <a:pPr algn="l"/>
            <a:r>
              <a:rPr sz="1200" b="0" i="0">
                <a:solidFill>
                  <a:srgbClr val="1C1814"/>
                </a:solidFill>
                <a:latin typeface="Calibri"/>
              </a:rPr>
              <a:t>columns: type, cast, country, rating, duration...</a:t>
            </a:r>
          </a:p>
        </p:txBody>
      </p:sp>
      <p:sp>
        <p:nvSpPr>
          <p:cNvPr id="32" name="Rectangle 31"/>
          <p:cNvSpPr/>
          <p:nvPr/>
        </p:nvSpPr>
        <p:spPr>
          <a:xfrm>
            <a:off x="6355080" y="2148840"/>
            <a:ext cx="2514600" cy="1600200"/>
          </a:xfrm>
          <a:prstGeom prst="rect">
            <a:avLst/>
          </a:prstGeom>
          <a:noFill/>
          <a:ln w="19050">
            <a:solidFill>
              <a:srgbClr val="1C18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37960" y="2286000"/>
            <a:ext cx="2194560" cy="640080"/>
          </a:xfrm>
          <a:prstGeom prst="rect">
            <a:avLst/>
          </a:prstGeom>
          <a:noFill/>
        </p:spPr>
        <p:txBody>
          <a:bodyPr wrap="square" lIns="0" rIns="0" tIns="0" bIns="0" anchor="t">
            <a:spAutoFit/>
          </a:bodyPr>
          <a:lstStyle/>
          <a:p>
            <a:pPr algn="l"/>
            <a:r>
              <a:rPr sz="2700" b="1" i="0">
                <a:solidFill>
                  <a:srgbClr val="B3261E"/>
                </a:solidFill>
                <a:latin typeface="Georgia"/>
              </a:rPr>
              <a:t>1925-2021</a:t>
            </a:r>
          </a:p>
        </p:txBody>
      </p:sp>
      <p:cxnSp>
        <p:nvCxnSpPr>
          <p:cNvPr id="34" name="Connector 33"/>
          <p:cNvCxnSpPr/>
          <p:nvPr/>
        </p:nvCxnSpPr>
        <p:spPr>
          <a:xfrm>
            <a:off x="6537960" y="3017520"/>
            <a:ext cx="2148840" cy="0"/>
          </a:xfrm>
          <a:prstGeom prst="line">
            <a:avLst/>
          </a:prstGeom>
          <a:ln w="9525">
            <a:solidFill>
              <a:srgbClr val="8C8173"/>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537960" y="3127248"/>
            <a:ext cx="2194560" cy="594360"/>
          </a:xfrm>
          <a:prstGeom prst="rect">
            <a:avLst/>
          </a:prstGeom>
          <a:noFill/>
        </p:spPr>
        <p:txBody>
          <a:bodyPr wrap="square" lIns="0" rIns="0" tIns="0" bIns="0" anchor="t">
            <a:spAutoFit/>
          </a:bodyPr>
          <a:lstStyle/>
          <a:p>
            <a:pPr algn="l"/>
            <a:r>
              <a:rPr sz="1200" b="0" i="0">
                <a:solidFill>
                  <a:srgbClr val="1C1814"/>
                </a:solidFill>
                <a:latin typeface="Calibri"/>
              </a:rPr>
              <a:t>release years covered</a:t>
            </a:r>
          </a:p>
        </p:txBody>
      </p:sp>
      <p:sp>
        <p:nvSpPr>
          <p:cNvPr id="36" name="Rectangle 35"/>
          <p:cNvSpPr/>
          <p:nvPr/>
        </p:nvSpPr>
        <p:spPr>
          <a:xfrm>
            <a:off x="9098280" y="2148840"/>
            <a:ext cx="2514600" cy="1600200"/>
          </a:xfrm>
          <a:prstGeom prst="rect">
            <a:avLst/>
          </a:prstGeom>
          <a:noFill/>
          <a:ln w="19050">
            <a:solidFill>
              <a:srgbClr val="1C18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81159" y="2286000"/>
            <a:ext cx="2194560" cy="640080"/>
          </a:xfrm>
          <a:prstGeom prst="rect">
            <a:avLst/>
          </a:prstGeom>
          <a:noFill/>
        </p:spPr>
        <p:txBody>
          <a:bodyPr wrap="square" lIns="0" rIns="0" tIns="0" bIns="0" anchor="t">
            <a:spAutoFit/>
          </a:bodyPr>
          <a:lstStyle/>
          <a:p>
            <a:pPr algn="l"/>
            <a:r>
              <a:rPr sz="2700" b="1" i="0">
                <a:solidFill>
                  <a:srgbClr val="B3261E"/>
                </a:solidFill>
                <a:latin typeface="Georgia"/>
              </a:rPr>
              <a:t>2008-2021</a:t>
            </a:r>
          </a:p>
        </p:txBody>
      </p:sp>
      <p:cxnSp>
        <p:nvCxnSpPr>
          <p:cNvPr id="38" name="Connector 37"/>
          <p:cNvCxnSpPr/>
          <p:nvPr/>
        </p:nvCxnSpPr>
        <p:spPr>
          <a:xfrm>
            <a:off x="9281159" y="3017520"/>
            <a:ext cx="2148840" cy="0"/>
          </a:xfrm>
          <a:prstGeom prst="line">
            <a:avLst/>
          </a:prstGeom>
          <a:ln w="9525">
            <a:solidFill>
              <a:srgbClr val="8C8173"/>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281159" y="3127248"/>
            <a:ext cx="2194560" cy="594360"/>
          </a:xfrm>
          <a:prstGeom prst="rect">
            <a:avLst/>
          </a:prstGeom>
          <a:noFill/>
        </p:spPr>
        <p:txBody>
          <a:bodyPr wrap="square" lIns="0" rIns="0" tIns="0" bIns="0" anchor="t">
            <a:spAutoFit/>
          </a:bodyPr>
          <a:lstStyle/>
          <a:p>
            <a:pPr algn="l"/>
            <a:r>
              <a:rPr sz="1200" b="0" i="0">
                <a:solidFill>
                  <a:srgbClr val="1C1814"/>
                </a:solidFill>
                <a:latin typeface="Calibri"/>
              </a:rPr>
              <a:t>window in which titles were added</a:t>
            </a:r>
          </a:p>
        </p:txBody>
      </p:sp>
      <p:sp>
        <p:nvSpPr>
          <p:cNvPr id="40" name="TextBox 39"/>
          <p:cNvSpPr txBox="1"/>
          <p:nvPr/>
        </p:nvSpPr>
        <p:spPr>
          <a:xfrm>
            <a:off x="868680" y="4069080"/>
            <a:ext cx="3657600" cy="274320"/>
          </a:xfrm>
          <a:prstGeom prst="rect">
            <a:avLst/>
          </a:prstGeom>
          <a:noFill/>
        </p:spPr>
        <p:txBody>
          <a:bodyPr wrap="square" lIns="0" rIns="0" tIns="0" bIns="0" anchor="t">
            <a:spAutoFit/>
          </a:bodyPr>
          <a:lstStyle/>
          <a:p>
            <a:pPr algn="l"/>
            <a:r>
              <a:rPr sz="1200" b="1" i="0">
                <a:solidFill>
                  <a:srgbClr val="B3261E"/>
                </a:solidFill>
                <a:latin typeface="Courier New"/>
              </a:rPr>
              <a:t>WHAT WE SET OUT TO ANSWER</a:t>
            </a:r>
          </a:p>
        </p:txBody>
      </p:sp>
      <p:sp>
        <p:nvSpPr>
          <p:cNvPr id="41" name="TextBox 40"/>
          <p:cNvSpPr txBox="1"/>
          <p:nvPr/>
        </p:nvSpPr>
        <p:spPr>
          <a:xfrm>
            <a:off x="868680" y="4434840"/>
            <a:ext cx="457200" cy="320040"/>
          </a:xfrm>
          <a:prstGeom prst="rect">
            <a:avLst/>
          </a:prstGeom>
          <a:noFill/>
        </p:spPr>
        <p:txBody>
          <a:bodyPr wrap="square" lIns="0" rIns="0" tIns="0" bIns="0" anchor="t">
            <a:spAutoFit/>
          </a:bodyPr>
          <a:lstStyle/>
          <a:p>
            <a:pPr algn="l"/>
            <a:r>
              <a:rPr sz="1300" b="1" i="0">
                <a:solidFill>
                  <a:srgbClr val="D69E2E"/>
                </a:solidFill>
                <a:latin typeface="Courier New"/>
              </a:rPr>
              <a:t>Q1</a:t>
            </a:r>
          </a:p>
        </p:txBody>
      </p:sp>
      <p:sp>
        <p:nvSpPr>
          <p:cNvPr id="42" name="TextBox 41"/>
          <p:cNvSpPr txBox="1"/>
          <p:nvPr/>
        </p:nvSpPr>
        <p:spPr>
          <a:xfrm>
            <a:off x="1371600" y="4434840"/>
            <a:ext cx="10058400" cy="320040"/>
          </a:xfrm>
          <a:prstGeom prst="rect">
            <a:avLst/>
          </a:prstGeom>
          <a:noFill/>
        </p:spPr>
        <p:txBody>
          <a:bodyPr wrap="square" lIns="0" rIns="0" tIns="0" bIns="0" anchor="t">
            <a:spAutoFit/>
          </a:bodyPr>
          <a:lstStyle/>
          <a:p>
            <a:pPr algn="l"/>
            <a:r>
              <a:rPr sz="1600" b="0" i="0">
                <a:solidFill>
                  <a:srgbClr val="1C1814"/>
                </a:solidFill>
                <a:latin typeface="Calibri"/>
              </a:rPr>
              <a:t>How big is each side of the catalogue: movies or shows?</a:t>
            </a:r>
          </a:p>
        </p:txBody>
      </p:sp>
      <p:sp>
        <p:nvSpPr>
          <p:cNvPr id="43" name="TextBox 42"/>
          <p:cNvSpPr txBox="1"/>
          <p:nvPr/>
        </p:nvSpPr>
        <p:spPr>
          <a:xfrm>
            <a:off x="868680" y="4818888"/>
            <a:ext cx="457200" cy="320040"/>
          </a:xfrm>
          <a:prstGeom prst="rect">
            <a:avLst/>
          </a:prstGeom>
          <a:noFill/>
        </p:spPr>
        <p:txBody>
          <a:bodyPr wrap="square" lIns="0" rIns="0" tIns="0" bIns="0" anchor="t">
            <a:spAutoFit/>
          </a:bodyPr>
          <a:lstStyle/>
          <a:p>
            <a:pPr algn="l"/>
            <a:r>
              <a:rPr sz="1300" b="1" i="0">
                <a:solidFill>
                  <a:srgbClr val="D69E2E"/>
                </a:solidFill>
                <a:latin typeface="Courier New"/>
              </a:rPr>
              <a:t>Q2</a:t>
            </a:r>
          </a:p>
        </p:txBody>
      </p:sp>
      <p:sp>
        <p:nvSpPr>
          <p:cNvPr id="44" name="TextBox 43"/>
          <p:cNvSpPr txBox="1"/>
          <p:nvPr/>
        </p:nvSpPr>
        <p:spPr>
          <a:xfrm>
            <a:off x="1371600" y="4818888"/>
            <a:ext cx="10058400" cy="320040"/>
          </a:xfrm>
          <a:prstGeom prst="rect">
            <a:avLst/>
          </a:prstGeom>
          <a:noFill/>
        </p:spPr>
        <p:txBody>
          <a:bodyPr wrap="square" lIns="0" rIns="0" tIns="0" bIns="0" anchor="t">
            <a:spAutoFit/>
          </a:bodyPr>
          <a:lstStyle/>
          <a:p>
            <a:pPr algn="l"/>
            <a:r>
              <a:rPr sz="1600" b="0" i="0">
                <a:solidFill>
                  <a:srgbClr val="1C1814"/>
                </a:solidFill>
                <a:latin typeface="Calibri"/>
              </a:rPr>
              <a:t>How fast did it grow, and is the library new or old?</a:t>
            </a:r>
          </a:p>
        </p:txBody>
      </p:sp>
      <p:sp>
        <p:nvSpPr>
          <p:cNvPr id="45" name="TextBox 44"/>
          <p:cNvSpPr txBox="1"/>
          <p:nvPr/>
        </p:nvSpPr>
        <p:spPr>
          <a:xfrm>
            <a:off x="868680" y="5202936"/>
            <a:ext cx="457200" cy="320040"/>
          </a:xfrm>
          <a:prstGeom prst="rect">
            <a:avLst/>
          </a:prstGeom>
          <a:noFill/>
        </p:spPr>
        <p:txBody>
          <a:bodyPr wrap="square" lIns="0" rIns="0" tIns="0" bIns="0" anchor="t">
            <a:spAutoFit/>
          </a:bodyPr>
          <a:lstStyle/>
          <a:p>
            <a:pPr algn="l"/>
            <a:r>
              <a:rPr sz="1300" b="1" i="0">
                <a:solidFill>
                  <a:srgbClr val="D69E2E"/>
                </a:solidFill>
                <a:latin typeface="Courier New"/>
              </a:rPr>
              <a:t>Q3</a:t>
            </a:r>
          </a:p>
        </p:txBody>
      </p:sp>
      <p:sp>
        <p:nvSpPr>
          <p:cNvPr id="46" name="TextBox 45"/>
          <p:cNvSpPr txBox="1"/>
          <p:nvPr/>
        </p:nvSpPr>
        <p:spPr>
          <a:xfrm>
            <a:off x="1371600" y="5202936"/>
            <a:ext cx="10058400" cy="320040"/>
          </a:xfrm>
          <a:prstGeom prst="rect">
            <a:avLst/>
          </a:prstGeom>
          <a:noFill/>
        </p:spPr>
        <p:txBody>
          <a:bodyPr wrap="square" lIns="0" rIns="0" tIns="0" bIns="0" anchor="t">
            <a:spAutoFit/>
          </a:bodyPr>
          <a:lstStyle/>
          <a:p>
            <a:pPr algn="l"/>
            <a:r>
              <a:rPr sz="1600" b="0" i="0">
                <a:solidFill>
                  <a:srgbClr val="1C1814"/>
                </a:solidFill>
                <a:latin typeface="Calibri"/>
              </a:rPr>
              <a:t>Which countries and genres does it come from?</a:t>
            </a:r>
          </a:p>
        </p:txBody>
      </p:sp>
      <p:sp>
        <p:nvSpPr>
          <p:cNvPr id="47" name="TextBox 46"/>
          <p:cNvSpPr txBox="1"/>
          <p:nvPr/>
        </p:nvSpPr>
        <p:spPr>
          <a:xfrm>
            <a:off x="868680" y="5586983"/>
            <a:ext cx="457200" cy="320040"/>
          </a:xfrm>
          <a:prstGeom prst="rect">
            <a:avLst/>
          </a:prstGeom>
          <a:noFill/>
        </p:spPr>
        <p:txBody>
          <a:bodyPr wrap="square" lIns="0" rIns="0" tIns="0" bIns="0" anchor="t">
            <a:spAutoFit/>
          </a:bodyPr>
          <a:lstStyle/>
          <a:p>
            <a:pPr algn="l"/>
            <a:r>
              <a:rPr sz="1300" b="1" i="0">
                <a:solidFill>
                  <a:srgbClr val="D69E2E"/>
                </a:solidFill>
                <a:latin typeface="Courier New"/>
              </a:rPr>
              <a:t>Q4</a:t>
            </a:r>
          </a:p>
        </p:txBody>
      </p:sp>
      <p:sp>
        <p:nvSpPr>
          <p:cNvPr id="48" name="TextBox 47"/>
          <p:cNvSpPr txBox="1"/>
          <p:nvPr/>
        </p:nvSpPr>
        <p:spPr>
          <a:xfrm>
            <a:off x="1371600" y="5586983"/>
            <a:ext cx="10058400" cy="320040"/>
          </a:xfrm>
          <a:prstGeom prst="rect">
            <a:avLst/>
          </a:prstGeom>
          <a:noFill/>
        </p:spPr>
        <p:txBody>
          <a:bodyPr wrap="square" lIns="0" rIns="0" tIns="0" bIns="0" anchor="t">
            <a:spAutoFit/>
          </a:bodyPr>
          <a:lstStyle/>
          <a:p>
            <a:pPr algn="l"/>
            <a:r>
              <a:rPr sz="1600" b="0" i="0">
                <a:solidFill>
                  <a:srgbClr val="1C1814"/>
                </a:solidFill>
                <a:latin typeface="Calibri"/>
              </a:rPr>
              <a:t>Who is the content for, and how long is it?</a:t>
            </a:r>
          </a:p>
        </p:txBody>
      </p:sp>
      <p:sp>
        <p:nvSpPr>
          <p:cNvPr id="49" name="TextBox 48"/>
          <p:cNvSpPr txBox="1"/>
          <p:nvPr/>
        </p:nvSpPr>
        <p:spPr>
          <a:xfrm>
            <a:off x="868680" y="5971031"/>
            <a:ext cx="457200" cy="320040"/>
          </a:xfrm>
          <a:prstGeom prst="rect">
            <a:avLst/>
          </a:prstGeom>
          <a:noFill/>
        </p:spPr>
        <p:txBody>
          <a:bodyPr wrap="square" lIns="0" rIns="0" tIns="0" bIns="0" anchor="t">
            <a:spAutoFit/>
          </a:bodyPr>
          <a:lstStyle/>
          <a:p>
            <a:pPr algn="l"/>
            <a:r>
              <a:rPr sz="1300" b="1" i="0">
                <a:solidFill>
                  <a:srgbClr val="D69E2E"/>
                </a:solidFill>
                <a:latin typeface="Courier New"/>
              </a:rPr>
              <a:t>Q5</a:t>
            </a:r>
          </a:p>
        </p:txBody>
      </p:sp>
      <p:sp>
        <p:nvSpPr>
          <p:cNvPr id="50" name="TextBox 49"/>
          <p:cNvSpPr txBox="1"/>
          <p:nvPr/>
        </p:nvSpPr>
        <p:spPr>
          <a:xfrm>
            <a:off x="1371600" y="5971031"/>
            <a:ext cx="10058400" cy="320040"/>
          </a:xfrm>
          <a:prstGeom prst="rect">
            <a:avLst/>
          </a:prstGeom>
          <a:noFill/>
        </p:spPr>
        <p:txBody>
          <a:bodyPr wrap="square" lIns="0" rIns="0" tIns="0" bIns="0" anchor="t">
            <a:spAutoFit/>
          </a:bodyPr>
          <a:lstStyle/>
          <a:p>
            <a:pPr algn="l"/>
            <a:r>
              <a:rPr sz="1600" b="0" i="0">
                <a:solidFill>
                  <a:srgbClr val="1C1814"/>
                </a:solidFill>
                <a:latin typeface="Calibri"/>
              </a:rPr>
              <a:t>Which people and which months stand out?</a:t>
            </a:r>
          </a:p>
        </p:txBody>
      </p:sp>
      <p:sp>
        <p:nvSpPr>
          <p:cNvPr id="51" name="TextBox 50"/>
          <p:cNvSpPr txBox="1"/>
          <p:nvPr/>
        </p:nvSpPr>
        <p:spPr>
          <a:xfrm>
            <a:off x="868680" y="6446520"/>
            <a:ext cx="8229600" cy="228600"/>
          </a:xfrm>
          <a:prstGeom prst="rect">
            <a:avLst/>
          </a:prstGeom>
          <a:noFill/>
        </p:spPr>
        <p:txBody>
          <a:bodyPr wrap="square" lIns="0" rIns="0" tIns="0" bIns="0" anchor="t">
            <a:spAutoFit/>
          </a:bodyPr>
          <a:lstStyle/>
          <a:p>
            <a:pPr algn="l"/>
            <a:r>
              <a:rPr sz="900" b="0" i="0">
                <a:solidFill>
                  <a:srgbClr val="8C8173"/>
                </a:solidFill>
                <a:latin typeface="Courier New"/>
              </a:rPr>
              <a:t>Source: netflix_data.csv (8,807 titles, added to Sept 2021)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EBDC"/>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55448" y="2560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55448" y="6217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55448" y="9875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5448" y="13533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5448" y="17190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5448" y="20848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55448" y="245059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5448" y="281635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55448" y="318211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55448" y="354787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55448" y="39136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55448" y="42793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55448" y="46451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55448" y="50109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55448" y="53766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55448" y="57424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5448" y="61081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55448" y="64739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7200"/>
            <a:ext cx="7315200" cy="274320"/>
          </a:xfrm>
          <a:prstGeom prst="rect">
            <a:avLst/>
          </a:prstGeom>
          <a:noFill/>
        </p:spPr>
        <p:txBody>
          <a:bodyPr wrap="square" lIns="0" rIns="0" tIns="0" bIns="0" anchor="t">
            <a:spAutoFit/>
          </a:bodyPr>
          <a:lstStyle/>
          <a:p>
            <a:pPr algn="l"/>
            <a:r>
              <a:rPr sz="1200" b="1" i="0">
                <a:solidFill>
                  <a:srgbClr val="B3261E"/>
                </a:solidFill>
                <a:latin typeface="Courier New"/>
              </a:rPr>
              <a:t>BEFORE WE COUNT ANYTHING</a:t>
            </a:r>
          </a:p>
        </p:txBody>
      </p:sp>
      <p:sp>
        <p:nvSpPr>
          <p:cNvPr id="22" name="TextBox 21"/>
          <p:cNvSpPr txBox="1"/>
          <p:nvPr/>
        </p:nvSpPr>
        <p:spPr>
          <a:xfrm>
            <a:off x="9509760" y="457200"/>
            <a:ext cx="2286000" cy="274320"/>
          </a:xfrm>
          <a:prstGeom prst="rect">
            <a:avLst/>
          </a:prstGeom>
          <a:noFill/>
        </p:spPr>
        <p:txBody>
          <a:bodyPr wrap="square" lIns="0" rIns="0" tIns="0" bIns="0" anchor="t">
            <a:spAutoFit/>
          </a:bodyPr>
          <a:lstStyle/>
          <a:p>
            <a:pPr algn="r"/>
            <a:r>
              <a:rPr sz="1100" b="0" i="0">
                <a:solidFill>
                  <a:srgbClr val="8C8173"/>
                </a:solidFill>
                <a:latin typeface="Courier New"/>
              </a:rPr>
              <a:t>REEL 03 / 15</a:t>
            </a:r>
          </a:p>
        </p:txBody>
      </p:sp>
      <p:sp>
        <p:nvSpPr>
          <p:cNvPr id="23" name="TextBox 22"/>
          <p:cNvSpPr txBox="1"/>
          <p:nvPr/>
        </p:nvSpPr>
        <p:spPr>
          <a:xfrm>
            <a:off x="868680" y="804672"/>
            <a:ext cx="10881360" cy="1188720"/>
          </a:xfrm>
          <a:prstGeom prst="rect">
            <a:avLst/>
          </a:prstGeom>
          <a:noFill/>
        </p:spPr>
        <p:txBody>
          <a:bodyPr wrap="square" lIns="0" rIns="0" tIns="0" bIns="0" anchor="t">
            <a:spAutoFit/>
          </a:bodyPr>
          <a:lstStyle/>
          <a:p>
            <a:pPr algn="l">
              <a:lnSpc>
                <a:spcPct val="95000"/>
              </a:lnSpc>
            </a:pPr>
            <a:r>
              <a:rPr sz="3000" b="1" i="0">
                <a:solidFill>
                  <a:srgbClr val="1C1814"/>
                </a:solidFill>
                <a:latin typeface="Georgia"/>
              </a:rPr>
              <a:t>A few small problems, fixed before the charts</a:t>
            </a:r>
          </a:p>
        </p:txBody>
      </p:sp>
      <p:sp>
        <p:nvSpPr>
          <p:cNvPr id="24" name="TextBox 23"/>
          <p:cNvSpPr txBox="1"/>
          <p:nvPr/>
        </p:nvSpPr>
        <p:spPr>
          <a:xfrm>
            <a:off x="868680" y="2103120"/>
            <a:ext cx="2377440" cy="274320"/>
          </a:xfrm>
          <a:prstGeom prst="rect">
            <a:avLst/>
          </a:prstGeom>
          <a:noFill/>
        </p:spPr>
        <p:txBody>
          <a:bodyPr wrap="square" lIns="0" rIns="0" tIns="0" bIns="0" anchor="t">
            <a:spAutoFit/>
          </a:bodyPr>
          <a:lstStyle/>
          <a:p>
            <a:pPr algn="l"/>
            <a:r>
              <a:rPr sz="1100" b="1" i="0">
                <a:solidFill>
                  <a:srgbClr val="8C8173"/>
                </a:solidFill>
                <a:latin typeface="Courier New"/>
              </a:rPr>
              <a:t>FOUND</a:t>
            </a:r>
          </a:p>
        </p:txBody>
      </p:sp>
      <p:sp>
        <p:nvSpPr>
          <p:cNvPr id="25" name="TextBox 24"/>
          <p:cNvSpPr txBox="1"/>
          <p:nvPr/>
        </p:nvSpPr>
        <p:spPr>
          <a:xfrm>
            <a:off x="3291840" y="2103120"/>
            <a:ext cx="4114800" cy="274320"/>
          </a:xfrm>
          <a:prstGeom prst="rect">
            <a:avLst/>
          </a:prstGeom>
          <a:noFill/>
        </p:spPr>
        <p:txBody>
          <a:bodyPr wrap="square" lIns="0" rIns="0" tIns="0" bIns="0" anchor="t">
            <a:spAutoFit/>
          </a:bodyPr>
          <a:lstStyle/>
          <a:p>
            <a:pPr algn="l"/>
            <a:r>
              <a:rPr sz="1100" b="1" i="0">
                <a:solidFill>
                  <a:srgbClr val="8C8173"/>
                </a:solidFill>
                <a:latin typeface="Courier New"/>
              </a:rPr>
              <a:t>WHAT IT LOOKED LIKE</a:t>
            </a:r>
          </a:p>
        </p:txBody>
      </p:sp>
      <p:sp>
        <p:nvSpPr>
          <p:cNvPr id="26" name="TextBox 25"/>
          <p:cNvSpPr txBox="1"/>
          <p:nvPr/>
        </p:nvSpPr>
        <p:spPr>
          <a:xfrm>
            <a:off x="7772400" y="2103120"/>
            <a:ext cx="3931920" cy="274320"/>
          </a:xfrm>
          <a:prstGeom prst="rect">
            <a:avLst/>
          </a:prstGeom>
          <a:noFill/>
        </p:spPr>
        <p:txBody>
          <a:bodyPr wrap="square" lIns="0" rIns="0" tIns="0" bIns="0" anchor="t">
            <a:spAutoFit/>
          </a:bodyPr>
          <a:lstStyle/>
          <a:p>
            <a:pPr algn="l"/>
            <a:r>
              <a:rPr sz="1100" b="1" i="0">
                <a:solidFill>
                  <a:srgbClr val="8C8173"/>
                </a:solidFill>
                <a:latin typeface="Courier New"/>
              </a:rPr>
              <a:t>WHAT WE DID</a:t>
            </a:r>
          </a:p>
        </p:txBody>
      </p:sp>
      <p:cxnSp>
        <p:nvCxnSpPr>
          <p:cNvPr id="27" name="Connector 26"/>
          <p:cNvCxnSpPr/>
          <p:nvPr/>
        </p:nvCxnSpPr>
        <p:spPr>
          <a:xfrm>
            <a:off x="868680" y="2395728"/>
            <a:ext cx="10881360" cy="0"/>
          </a:xfrm>
          <a:prstGeom prst="line">
            <a:avLst/>
          </a:prstGeom>
          <a:ln w="6350">
            <a:solidFill>
              <a:srgbClr val="8C8173"/>
            </a:solidFill>
            <a:prstDash val="dash"/>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68680" y="2468880"/>
            <a:ext cx="2377440" cy="502920"/>
          </a:xfrm>
          <a:prstGeom prst="rect">
            <a:avLst/>
          </a:prstGeom>
          <a:noFill/>
        </p:spPr>
        <p:txBody>
          <a:bodyPr wrap="square" lIns="0" rIns="0" tIns="0" bIns="0" anchor="t">
            <a:spAutoFit/>
          </a:bodyPr>
          <a:lstStyle/>
          <a:p>
            <a:pPr algn="l"/>
            <a:r>
              <a:rPr sz="1400" b="1" i="0">
                <a:solidFill>
                  <a:srgbClr val="B3261E"/>
                </a:solidFill>
                <a:latin typeface="Courier New"/>
              </a:rPr>
              <a:t>3 rows</a:t>
            </a:r>
          </a:p>
        </p:txBody>
      </p:sp>
      <p:sp>
        <p:nvSpPr>
          <p:cNvPr id="29" name="TextBox 28"/>
          <p:cNvSpPr txBox="1"/>
          <p:nvPr/>
        </p:nvSpPr>
        <p:spPr>
          <a:xfrm>
            <a:off x="3291840" y="2468880"/>
            <a:ext cx="4297680" cy="502920"/>
          </a:xfrm>
          <a:prstGeom prst="rect">
            <a:avLst/>
          </a:prstGeom>
          <a:noFill/>
        </p:spPr>
        <p:txBody>
          <a:bodyPr wrap="square" lIns="0" rIns="0" tIns="0" bIns="0" anchor="t">
            <a:spAutoFit/>
          </a:bodyPr>
          <a:lstStyle/>
          <a:p>
            <a:pPr algn="l"/>
            <a:r>
              <a:rPr sz="1400" b="0" i="0">
                <a:solidFill>
                  <a:srgbClr val="1C1814"/>
                </a:solidFill>
                <a:latin typeface="Calibri"/>
              </a:rPr>
              <a:t>duration typed into the rating column (Louis C.K. specials)</a:t>
            </a:r>
          </a:p>
        </p:txBody>
      </p:sp>
      <p:sp>
        <p:nvSpPr>
          <p:cNvPr id="30" name="TextBox 29"/>
          <p:cNvSpPr txBox="1"/>
          <p:nvPr/>
        </p:nvSpPr>
        <p:spPr>
          <a:xfrm>
            <a:off x="7772400" y="2468880"/>
            <a:ext cx="3931920" cy="502920"/>
          </a:xfrm>
          <a:prstGeom prst="rect">
            <a:avLst/>
          </a:prstGeom>
          <a:noFill/>
        </p:spPr>
        <p:txBody>
          <a:bodyPr wrap="square" lIns="0" rIns="0" tIns="0" bIns="0" anchor="t">
            <a:spAutoFit/>
          </a:bodyPr>
          <a:lstStyle/>
          <a:p>
            <a:pPr algn="l"/>
            <a:r>
              <a:rPr sz="1400" b="1" i="0">
                <a:solidFill>
                  <a:srgbClr val="1C1814"/>
                </a:solidFill>
                <a:latin typeface="Calibri"/>
              </a:rPr>
              <a:t>moved to duration, rating set to Unknown</a:t>
            </a:r>
          </a:p>
        </p:txBody>
      </p:sp>
      <p:cxnSp>
        <p:nvCxnSpPr>
          <p:cNvPr id="31" name="Connector 30"/>
          <p:cNvCxnSpPr/>
          <p:nvPr/>
        </p:nvCxnSpPr>
        <p:spPr>
          <a:xfrm>
            <a:off x="868680" y="3017520"/>
            <a:ext cx="10881360" cy="0"/>
          </a:xfrm>
          <a:prstGeom prst="line">
            <a:avLst/>
          </a:prstGeom>
          <a:ln w="6350">
            <a:solidFill>
              <a:srgbClr val="8C8173"/>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68680" y="3090672"/>
            <a:ext cx="2377440" cy="502920"/>
          </a:xfrm>
          <a:prstGeom prst="rect">
            <a:avLst/>
          </a:prstGeom>
          <a:noFill/>
        </p:spPr>
        <p:txBody>
          <a:bodyPr wrap="square" lIns="0" rIns="0" tIns="0" bIns="0" anchor="t">
            <a:spAutoFit/>
          </a:bodyPr>
          <a:lstStyle/>
          <a:p>
            <a:pPr algn="l"/>
            <a:r>
              <a:rPr sz="1400" b="1" i="0">
                <a:solidFill>
                  <a:srgbClr val="B3261E"/>
                </a:solidFill>
                <a:latin typeface="Courier New"/>
              </a:rPr>
              <a:t>30% / 9% / 9%</a:t>
            </a:r>
          </a:p>
        </p:txBody>
      </p:sp>
      <p:sp>
        <p:nvSpPr>
          <p:cNvPr id="33" name="TextBox 32"/>
          <p:cNvSpPr txBox="1"/>
          <p:nvPr/>
        </p:nvSpPr>
        <p:spPr>
          <a:xfrm>
            <a:off x="3291840" y="3090672"/>
            <a:ext cx="4297680" cy="502920"/>
          </a:xfrm>
          <a:prstGeom prst="rect">
            <a:avLst/>
          </a:prstGeom>
          <a:noFill/>
        </p:spPr>
        <p:txBody>
          <a:bodyPr wrap="square" lIns="0" rIns="0" tIns="0" bIns="0" anchor="t">
            <a:spAutoFit/>
          </a:bodyPr>
          <a:lstStyle/>
          <a:p>
            <a:pPr algn="l"/>
            <a:r>
              <a:rPr sz="1400" b="0" i="0">
                <a:solidFill>
                  <a:srgbClr val="1C1814"/>
                </a:solidFill>
                <a:latin typeface="Calibri"/>
              </a:rPr>
              <a:t>director / cast / country are blank</a:t>
            </a:r>
          </a:p>
        </p:txBody>
      </p:sp>
      <p:sp>
        <p:nvSpPr>
          <p:cNvPr id="34" name="TextBox 33"/>
          <p:cNvSpPr txBox="1"/>
          <p:nvPr/>
        </p:nvSpPr>
        <p:spPr>
          <a:xfrm>
            <a:off x="7772400" y="3090672"/>
            <a:ext cx="3931920" cy="502920"/>
          </a:xfrm>
          <a:prstGeom prst="rect">
            <a:avLst/>
          </a:prstGeom>
          <a:noFill/>
        </p:spPr>
        <p:txBody>
          <a:bodyPr wrap="square" lIns="0" rIns="0" tIns="0" bIns="0" anchor="t">
            <a:spAutoFit/>
          </a:bodyPr>
          <a:lstStyle/>
          <a:p>
            <a:pPr algn="l"/>
            <a:r>
              <a:rPr sz="1400" b="1" i="0">
                <a:solidFill>
                  <a:srgbClr val="1C1814"/>
                </a:solidFill>
                <a:latin typeface="Calibri"/>
              </a:rPr>
              <a:t>labelled Unknown so gaps stay visible</a:t>
            </a:r>
          </a:p>
        </p:txBody>
      </p:sp>
      <p:cxnSp>
        <p:nvCxnSpPr>
          <p:cNvPr id="35" name="Connector 34"/>
          <p:cNvCxnSpPr/>
          <p:nvPr/>
        </p:nvCxnSpPr>
        <p:spPr>
          <a:xfrm>
            <a:off x="868680" y="3639312"/>
            <a:ext cx="10881360" cy="0"/>
          </a:xfrm>
          <a:prstGeom prst="line">
            <a:avLst/>
          </a:prstGeom>
          <a:ln w="6350">
            <a:solidFill>
              <a:srgbClr val="8C8173"/>
            </a:solidFill>
            <a:prstDash val="dash"/>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68680" y="3712464"/>
            <a:ext cx="2377440" cy="502920"/>
          </a:xfrm>
          <a:prstGeom prst="rect">
            <a:avLst/>
          </a:prstGeom>
          <a:noFill/>
        </p:spPr>
        <p:txBody>
          <a:bodyPr wrap="square" lIns="0" rIns="0" tIns="0" bIns="0" anchor="t">
            <a:spAutoFit/>
          </a:bodyPr>
          <a:lstStyle/>
          <a:p>
            <a:pPr algn="l"/>
            <a:r>
              <a:rPr sz="1400" b="1" i="0">
                <a:solidFill>
                  <a:srgbClr val="B3261E"/>
                </a:solidFill>
                <a:latin typeface="Courier New"/>
              </a:rPr>
              <a:t>10 rows</a:t>
            </a:r>
          </a:p>
        </p:txBody>
      </p:sp>
      <p:sp>
        <p:nvSpPr>
          <p:cNvPr id="37" name="TextBox 36"/>
          <p:cNvSpPr txBox="1"/>
          <p:nvPr/>
        </p:nvSpPr>
        <p:spPr>
          <a:xfrm>
            <a:off x="3291840" y="3712464"/>
            <a:ext cx="4297680" cy="502920"/>
          </a:xfrm>
          <a:prstGeom prst="rect">
            <a:avLst/>
          </a:prstGeom>
          <a:noFill/>
        </p:spPr>
        <p:txBody>
          <a:bodyPr wrap="square" lIns="0" rIns="0" tIns="0" bIns="0" anchor="t">
            <a:spAutoFit/>
          </a:bodyPr>
          <a:lstStyle/>
          <a:p>
            <a:pPr algn="l"/>
            <a:r>
              <a:rPr sz="1400" b="0" i="0">
                <a:solidFill>
                  <a:srgbClr val="1C1814"/>
                </a:solidFill>
                <a:latin typeface="Calibri"/>
              </a:rPr>
              <a:t>no date_added</a:t>
            </a:r>
          </a:p>
        </p:txBody>
      </p:sp>
      <p:sp>
        <p:nvSpPr>
          <p:cNvPr id="38" name="TextBox 37"/>
          <p:cNvSpPr txBox="1"/>
          <p:nvPr/>
        </p:nvSpPr>
        <p:spPr>
          <a:xfrm>
            <a:off x="7772400" y="3712464"/>
            <a:ext cx="3931920" cy="502920"/>
          </a:xfrm>
          <a:prstGeom prst="rect">
            <a:avLst/>
          </a:prstGeom>
          <a:noFill/>
        </p:spPr>
        <p:txBody>
          <a:bodyPr wrap="square" lIns="0" rIns="0" tIns="0" bIns="0" anchor="t">
            <a:spAutoFit/>
          </a:bodyPr>
          <a:lstStyle/>
          <a:p>
            <a:pPr algn="l"/>
            <a:r>
              <a:rPr sz="1400" b="1" i="0">
                <a:solidFill>
                  <a:srgbClr val="1C1814"/>
                </a:solidFill>
                <a:latin typeface="Calibri"/>
              </a:rPr>
              <a:t>kept, but left out of time-based charts</a:t>
            </a:r>
          </a:p>
        </p:txBody>
      </p:sp>
      <p:cxnSp>
        <p:nvCxnSpPr>
          <p:cNvPr id="39" name="Connector 38"/>
          <p:cNvCxnSpPr/>
          <p:nvPr/>
        </p:nvCxnSpPr>
        <p:spPr>
          <a:xfrm>
            <a:off x="868680" y="4261104"/>
            <a:ext cx="10881360" cy="0"/>
          </a:xfrm>
          <a:prstGeom prst="line">
            <a:avLst/>
          </a:prstGeom>
          <a:ln w="6350">
            <a:solidFill>
              <a:srgbClr val="8C8173"/>
            </a:solidFill>
            <a:prstDash val="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68680" y="4334256"/>
            <a:ext cx="2377440" cy="502920"/>
          </a:xfrm>
          <a:prstGeom prst="rect">
            <a:avLst/>
          </a:prstGeom>
          <a:noFill/>
        </p:spPr>
        <p:txBody>
          <a:bodyPr wrap="square" lIns="0" rIns="0" tIns="0" bIns="0" anchor="t">
            <a:spAutoFit/>
          </a:bodyPr>
          <a:lstStyle/>
          <a:p>
            <a:pPr algn="l"/>
            <a:r>
              <a:rPr sz="1400" b="1" i="0">
                <a:solidFill>
                  <a:srgbClr val="B3261E"/>
                </a:solidFill>
                <a:latin typeface="Courier New"/>
              </a:rPr>
              <a:t>text dates</a:t>
            </a:r>
          </a:p>
        </p:txBody>
      </p:sp>
      <p:sp>
        <p:nvSpPr>
          <p:cNvPr id="41" name="TextBox 40"/>
          <p:cNvSpPr txBox="1"/>
          <p:nvPr/>
        </p:nvSpPr>
        <p:spPr>
          <a:xfrm>
            <a:off x="3291840" y="4334256"/>
            <a:ext cx="4297680" cy="502920"/>
          </a:xfrm>
          <a:prstGeom prst="rect">
            <a:avLst/>
          </a:prstGeom>
          <a:noFill/>
        </p:spPr>
        <p:txBody>
          <a:bodyPr wrap="square" lIns="0" rIns="0" tIns="0" bIns="0" anchor="t">
            <a:spAutoFit/>
          </a:bodyPr>
          <a:lstStyle/>
          <a:p>
            <a:pPr algn="l"/>
            <a:r>
              <a:rPr sz="1400" b="0" i="0">
                <a:solidFill>
                  <a:srgbClr val="1C1814"/>
                </a:solidFill>
                <a:latin typeface="Calibri"/>
              </a:rPr>
              <a:t>'September 25, 2021' and '90 min' / '2 Seasons'</a:t>
            </a:r>
          </a:p>
        </p:txBody>
      </p:sp>
      <p:sp>
        <p:nvSpPr>
          <p:cNvPr id="42" name="TextBox 41"/>
          <p:cNvSpPr txBox="1"/>
          <p:nvPr/>
        </p:nvSpPr>
        <p:spPr>
          <a:xfrm>
            <a:off x="7772400" y="4334256"/>
            <a:ext cx="3931920" cy="502920"/>
          </a:xfrm>
          <a:prstGeom prst="rect">
            <a:avLst/>
          </a:prstGeom>
          <a:noFill/>
        </p:spPr>
        <p:txBody>
          <a:bodyPr wrap="square" lIns="0" rIns="0" tIns="0" bIns="0" anchor="t">
            <a:spAutoFit/>
          </a:bodyPr>
          <a:lstStyle/>
          <a:p>
            <a:pPr algn="l"/>
            <a:r>
              <a:rPr sz="1400" b="1" i="0">
                <a:solidFill>
                  <a:srgbClr val="1C1814"/>
                </a:solidFill>
                <a:latin typeface="Calibri"/>
              </a:rPr>
              <a:t>parsed to real dates, minutes and seasons</a:t>
            </a:r>
          </a:p>
        </p:txBody>
      </p:sp>
      <p:cxnSp>
        <p:nvCxnSpPr>
          <p:cNvPr id="43" name="Connector 42"/>
          <p:cNvCxnSpPr/>
          <p:nvPr/>
        </p:nvCxnSpPr>
        <p:spPr>
          <a:xfrm>
            <a:off x="868680" y="4882896"/>
            <a:ext cx="10881360" cy="0"/>
          </a:xfrm>
          <a:prstGeom prst="line">
            <a:avLst/>
          </a:prstGeom>
          <a:ln w="6350">
            <a:solidFill>
              <a:srgbClr val="8C8173"/>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868680" y="4956048"/>
            <a:ext cx="2377440" cy="502920"/>
          </a:xfrm>
          <a:prstGeom prst="rect">
            <a:avLst/>
          </a:prstGeom>
          <a:noFill/>
        </p:spPr>
        <p:txBody>
          <a:bodyPr wrap="square" lIns="0" rIns="0" tIns="0" bIns="0" anchor="t">
            <a:spAutoFit/>
          </a:bodyPr>
          <a:lstStyle/>
          <a:p>
            <a:pPr algn="l"/>
            <a:r>
              <a:rPr sz="1400" b="1" i="0">
                <a:solidFill>
                  <a:srgbClr val="B3261E"/>
                </a:solidFill>
                <a:latin typeface="Courier New"/>
              </a:rPr>
              <a:t>multi-value cells</a:t>
            </a:r>
          </a:p>
        </p:txBody>
      </p:sp>
      <p:sp>
        <p:nvSpPr>
          <p:cNvPr id="45" name="TextBox 44"/>
          <p:cNvSpPr txBox="1"/>
          <p:nvPr/>
        </p:nvSpPr>
        <p:spPr>
          <a:xfrm>
            <a:off x="3291840" y="4956048"/>
            <a:ext cx="4297680" cy="502920"/>
          </a:xfrm>
          <a:prstGeom prst="rect">
            <a:avLst/>
          </a:prstGeom>
          <a:noFill/>
        </p:spPr>
        <p:txBody>
          <a:bodyPr wrap="square" lIns="0" rIns="0" tIns="0" bIns="0" anchor="t">
            <a:spAutoFit/>
          </a:bodyPr>
          <a:lstStyle/>
          <a:p>
            <a:pPr algn="l"/>
            <a:r>
              <a:rPr sz="1400" b="0" i="0">
                <a:solidFill>
                  <a:srgbClr val="1C1814"/>
                </a:solidFill>
                <a:latin typeface="Calibri"/>
              </a:rPr>
              <a:t>'Drama, Comedy' in one cell; co-productions</a:t>
            </a:r>
          </a:p>
        </p:txBody>
      </p:sp>
      <p:sp>
        <p:nvSpPr>
          <p:cNvPr id="46" name="TextBox 45"/>
          <p:cNvSpPr txBox="1"/>
          <p:nvPr/>
        </p:nvSpPr>
        <p:spPr>
          <a:xfrm>
            <a:off x="7772400" y="4956048"/>
            <a:ext cx="3931920" cy="502920"/>
          </a:xfrm>
          <a:prstGeom prst="rect">
            <a:avLst/>
          </a:prstGeom>
          <a:noFill/>
        </p:spPr>
        <p:txBody>
          <a:bodyPr wrap="square" lIns="0" rIns="0" tIns="0" bIns="0" anchor="t">
            <a:spAutoFit/>
          </a:bodyPr>
          <a:lstStyle/>
          <a:p>
            <a:pPr algn="l"/>
            <a:r>
              <a:rPr sz="1400" b="1" i="0">
                <a:solidFill>
                  <a:srgbClr val="1C1814"/>
                </a:solidFill>
                <a:latin typeface="Calibri"/>
              </a:rPr>
              <a:t>split and exploded so each item is counted</a:t>
            </a:r>
          </a:p>
        </p:txBody>
      </p:sp>
      <p:cxnSp>
        <p:nvCxnSpPr>
          <p:cNvPr id="47" name="Connector 46"/>
          <p:cNvCxnSpPr/>
          <p:nvPr/>
        </p:nvCxnSpPr>
        <p:spPr>
          <a:xfrm>
            <a:off x="868680" y="5504688"/>
            <a:ext cx="10881360" cy="0"/>
          </a:xfrm>
          <a:prstGeom prst="line">
            <a:avLst/>
          </a:prstGeom>
          <a:ln w="6350">
            <a:solidFill>
              <a:srgbClr val="8C8173"/>
            </a:solidFill>
            <a:prstDash val="dash"/>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868680" y="5577840"/>
            <a:ext cx="2377440" cy="502920"/>
          </a:xfrm>
          <a:prstGeom prst="rect">
            <a:avLst/>
          </a:prstGeom>
          <a:noFill/>
        </p:spPr>
        <p:txBody>
          <a:bodyPr wrap="square" lIns="0" rIns="0" tIns="0" bIns="0" anchor="t">
            <a:spAutoFit/>
          </a:bodyPr>
          <a:lstStyle/>
          <a:p>
            <a:pPr algn="l"/>
            <a:r>
              <a:rPr sz="1400" b="1" i="0">
                <a:solidFill>
                  <a:srgbClr val="B3261E"/>
                </a:solidFill>
                <a:latin typeface="Courier New"/>
              </a:rPr>
              <a:t>14 rating codes</a:t>
            </a:r>
          </a:p>
        </p:txBody>
      </p:sp>
      <p:sp>
        <p:nvSpPr>
          <p:cNvPr id="49" name="TextBox 48"/>
          <p:cNvSpPr txBox="1"/>
          <p:nvPr/>
        </p:nvSpPr>
        <p:spPr>
          <a:xfrm>
            <a:off x="3291840" y="5577840"/>
            <a:ext cx="4297680" cy="502920"/>
          </a:xfrm>
          <a:prstGeom prst="rect">
            <a:avLst/>
          </a:prstGeom>
          <a:noFill/>
        </p:spPr>
        <p:txBody>
          <a:bodyPr wrap="square" lIns="0" rIns="0" tIns="0" bIns="0" anchor="t">
            <a:spAutoFit/>
          </a:bodyPr>
          <a:lstStyle/>
          <a:p>
            <a:pPr algn="l"/>
            <a:r>
              <a:rPr sz="1400" b="0" i="0">
                <a:solidFill>
                  <a:srgbClr val="1C1814"/>
                </a:solidFill>
                <a:latin typeface="Calibri"/>
              </a:rPr>
              <a:t>TV-MA, PG-13, TV-Y7-FV ...</a:t>
            </a:r>
          </a:p>
        </p:txBody>
      </p:sp>
      <p:sp>
        <p:nvSpPr>
          <p:cNvPr id="50" name="TextBox 49"/>
          <p:cNvSpPr txBox="1"/>
          <p:nvPr/>
        </p:nvSpPr>
        <p:spPr>
          <a:xfrm>
            <a:off x="7772400" y="5577840"/>
            <a:ext cx="3931920" cy="502920"/>
          </a:xfrm>
          <a:prstGeom prst="rect">
            <a:avLst/>
          </a:prstGeom>
          <a:noFill/>
        </p:spPr>
        <p:txBody>
          <a:bodyPr wrap="square" lIns="0" rIns="0" tIns="0" bIns="0" anchor="t">
            <a:spAutoFit/>
          </a:bodyPr>
          <a:lstStyle/>
          <a:p>
            <a:pPr algn="l"/>
            <a:r>
              <a:rPr sz="1400" b="1" i="0">
                <a:solidFill>
                  <a:srgbClr val="1C1814"/>
                </a:solidFill>
                <a:latin typeface="Calibri"/>
              </a:rPr>
              <a:t>grouped into 4 audience bands</a:t>
            </a:r>
          </a:p>
        </p:txBody>
      </p:sp>
      <p:sp>
        <p:nvSpPr>
          <p:cNvPr id="51" name="TextBox 50"/>
          <p:cNvSpPr txBox="1"/>
          <p:nvPr/>
        </p:nvSpPr>
        <p:spPr>
          <a:xfrm>
            <a:off x="868680" y="6217920"/>
            <a:ext cx="10058400" cy="274320"/>
          </a:xfrm>
          <a:prstGeom prst="rect">
            <a:avLst/>
          </a:prstGeom>
          <a:noFill/>
        </p:spPr>
        <p:txBody>
          <a:bodyPr wrap="square" lIns="0" rIns="0" tIns="0" bIns="0" anchor="t">
            <a:spAutoFit/>
          </a:bodyPr>
          <a:lstStyle/>
          <a:p>
            <a:pPr algn="l"/>
            <a:r>
              <a:rPr sz="1200" b="0" i="1">
                <a:solidFill>
                  <a:srgbClr val="8C8173"/>
                </a:solidFill>
                <a:latin typeface="Calibri"/>
              </a:rPr>
              <a:t>No duplicate rows or duplicate IDs were found. The cleaned file is saved as data/netflix_clean.csv.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EBDC"/>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55448" y="2560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55448" y="6217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55448" y="9875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5448" y="13533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5448" y="17190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5448" y="20848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55448" y="245059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5448" y="281635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55448" y="318211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55448" y="354787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55448" y="39136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55448" y="42793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55448" y="46451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55448" y="50109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55448" y="53766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55448" y="57424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5448" y="61081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55448" y="64739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7200"/>
            <a:ext cx="7315200" cy="274320"/>
          </a:xfrm>
          <a:prstGeom prst="rect">
            <a:avLst/>
          </a:prstGeom>
          <a:noFill/>
        </p:spPr>
        <p:txBody>
          <a:bodyPr wrap="square" lIns="0" rIns="0" tIns="0" bIns="0" anchor="t">
            <a:spAutoFit/>
          </a:bodyPr>
          <a:lstStyle/>
          <a:p>
            <a:pPr algn="l"/>
            <a:r>
              <a:rPr sz="1200" b="1" i="0">
                <a:solidFill>
                  <a:srgbClr val="B3261E"/>
                </a:solidFill>
                <a:latin typeface="Courier New"/>
              </a:rPr>
              <a:t>01 / THE SPLIT</a:t>
            </a:r>
          </a:p>
        </p:txBody>
      </p:sp>
      <p:sp>
        <p:nvSpPr>
          <p:cNvPr id="22" name="TextBox 21"/>
          <p:cNvSpPr txBox="1"/>
          <p:nvPr/>
        </p:nvSpPr>
        <p:spPr>
          <a:xfrm>
            <a:off x="9509760" y="457200"/>
            <a:ext cx="2286000" cy="274320"/>
          </a:xfrm>
          <a:prstGeom prst="rect">
            <a:avLst/>
          </a:prstGeom>
          <a:noFill/>
        </p:spPr>
        <p:txBody>
          <a:bodyPr wrap="square" lIns="0" rIns="0" tIns="0" bIns="0" anchor="t">
            <a:spAutoFit/>
          </a:bodyPr>
          <a:lstStyle/>
          <a:p>
            <a:pPr algn="r"/>
            <a:r>
              <a:rPr sz="1100" b="0" i="0">
                <a:solidFill>
                  <a:srgbClr val="8C8173"/>
                </a:solidFill>
                <a:latin typeface="Courier New"/>
              </a:rPr>
              <a:t>REEL 04 / 15</a:t>
            </a:r>
          </a:p>
        </p:txBody>
      </p:sp>
      <p:sp>
        <p:nvSpPr>
          <p:cNvPr id="23" name="TextBox 22"/>
          <p:cNvSpPr txBox="1"/>
          <p:nvPr/>
        </p:nvSpPr>
        <p:spPr>
          <a:xfrm>
            <a:off x="868680" y="804672"/>
            <a:ext cx="10881360" cy="1188720"/>
          </a:xfrm>
          <a:prstGeom prst="rect">
            <a:avLst/>
          </a:prstGeom>
          <a:noFill/>
        </p:spPr>
        <p:txBody>
          <a:bodyPr wrap="square" lIns="0" rIns="0" tIns="0" bIns="0" anchor="t">
            <a:spAutoFit/>
          </a:bodyPr>
          <a:lstStyle/>
          <a:p>
            <a:pPr algn="l">
              <a:lnSpc>
                <a:spcPct val="95000"/>
              </a:lnSpc>
            </a:pPr>
            <a:r>
              <a:rPr sz="3000" b="1" i="0">
                <a:solidFill>
                  <a:srgbClr val="1C1814"/>
                </a:solidFill>
                <a:latin typeface="Georgia"/>
              </a:rPr>
              <a:t>Seven movies for every three shows</a:t>
            </a:r>
          </a:p>
        </p:txBody>
      </p:sp>
      <p:sp>
        <p:nvSpPr>
          <p:cNvPr id="24" name="Rectangle 23"/>
          <p:cNvSpPr/>
          <p:nvPr/>
        </p:nvSpPr>
        <p:spPr>
          <a:xfrm>
            <a:off x="868680" y="2286000"/>
            <a:ext cx="7509784" cy="173736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78464" y="2286000"/>
            <a:ext cx="3280135" cy="1737360"/>
          </a:xfrm>
          <a:prstGeom prst="rect">
            <a:avLst/>
          </a:prstGeom>
          <a:solidFill>
            <a:srgbClr val="D69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 y="2331720"/>
            <a:ext cx="5486400" cy="1097280"/>
          </a:xfrm>
          <a:prstGeom prst="rect">
            <a:avLst/>
          </a:prstGeom>
          <a:noFill/>
        </p:spPr>
        <p:txBody>
          <a:bodyPr wrap="square" lIns="0" rIns="0" tIns="0" bIns="0" anchor="t">
            <a:spAutoFit/>
          </a:bodyPr>
          <a:lstStyle/>
          <a:p>
            <a:pPr algn="l"/>
            <a:r>
              <a:rPr sz="8000" b="1" i="0">
                <a:solidFill>
                  <a:srgbClr val="F3EBDC"/>
                </a:solidFill>
                <a:latin typeface="Georgia"/>
              </a:rPr>
              <a:t>70%</a:t>
            </a:r>
          </a:p>
        </p:txBody>
      </p:sp>
      <p:sp>
        <p:nvSpPr>
          <p:cNvPr id="27" name="TextBox 26"/>
          <p:cNvSpPr txBox="1"/>
          <p:nvPr/>
        </p:nvSpPr>
        <p:spPr>
          <a:xfrm>
            <a:off x="1143000" y="3429000"/>
            <a:ext cx="5486400" cy="457200"/>
          </a:xfrm>
          <a:prstGeom prst="rect">
            <a:avLst/>
          </a:prstGeom>
          <a:noFill/>
        </p:spPr>
        <p:txBody>
          <a:bodyPr wrap="square" lIns="0" rIns="0" tIns="0" bIns="0" anchor="t">
            <a:spAutoFit/>
          </a:bodyPr>
          <a:lstStyle/>
          <a:p>
            <a:pPr algn="l"/>
            <a:r>
              <a:rPr sz="1600" b="1" i="0">
                <a:solidFill>
                  <a:srgbClr val="F3EBDC"/>
                </a:solidFill>
                <a:latin typeface="Courier New"/>
              </a:rPr>
              <a:t>MOVIES  ·  6,131</a:t>
            </a:r>
          </a:p>
        </p:txBody>
      </p:sp>
      <p:sp>
        <p:nvSpPr>
          <p:cNvPr id="28" name="TextBox 27"/>
          <p:cNvSpPr txBox="1"/>
          <p:nvPr/>
        </p:nvSpPr>
        <p:spPr>
          <a:xfrm>
            <a:off x="8607064" y="2331720"/>
            <a:ext cx="3200400" cy="1097280"/>
          </a:xfrm>
          <a:prstGeom prst="rect">
            <a:avLst/>
          </a:prstGeom>
          <a:noFill/>
        </p:spPr>
        <p:txBody>
          <a:bodyPr wrap="square" lIns="0" rIns="0" tIns="0" bIns="0" anchor="t">
            <a:spAutoFit/>
          </a:bodyPr>
          <a:lstStyle/>
          <a:p>
            <a:pPr algn="l"/>
            <a:r>
              <a:rPr sz="8000" b="1" i="0">
                <a:solidFill>
                  <a:srgbClr val="1C1814"/>
                </a:solidFill>
                <a:latin typeface="Georgia"/>
              </a:rPr>
              <a:t>30%</a:t>
            </a:r>
          </a:p>
        </p:txBody>
      </p:sp>
      <p:sp>
        <p:nvSpPr>
          <p:cNvPr id="29" name="TextBox 28"/>
          <p:cNvSpPr txBox="1"/>
          <p:nvPr/>
        </p:nvSpPr>
        <p:spPr>
          <a:xfrm>
            <a:off x="8634496" y="3429000"/>
            <a:ext cx="3200400" cy="457200"/>
          </a:xfrm>
          <a:prstGeom prst="rect">
            <a:avLst/>
          </a:prstGeom>
          <a:noFill/>
        </p:spPr>
        <p:txBody>
          <a:bodyPr wrap="square" lIns="0" rIns="0" tIns="0" bIns="0" anchor="t">
            <a:spAutoFit/>
          </a:bodyPr>
          <a:lstStyle/>
          <a:p>
            <a:pPr algn="l"/>
            <a:r>
              <a:rPr sz="1600" b="1" i="0">
                <a:solidFill>
                  <a:srgbClr val="1C1814"/>
                </a:solidFill>
                <a:latin typeface="Courier New"/>
              </a:rPr>
              <a:t>TV  ·  2,676</a:t>
            </a:r>
          </a:p>
        </p:txBody>
      </p:sp>
      <p:cxnSp>
        <p:nvCxnSpPr>
          <p:cNvPr id="30" name="Connector 29"/>
          <p:cNvCxnSpPr/>
          <p:nvPr/>
        </p:nvCxnSpPr>
        <p:spPr>
          <a:xfrm>
            <a:off x="868680" y="4526280"/>
            <a:ext cx="3383280"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68680" y="4617720"/>
            <a:ext cx="3383280" cy="365760"/>
          </a:xfrm>
          <a:prstGeom prst="rect">
            <a:avLst/>
          </a:prstGeom>
          <a:noFill/>
        </p:spPr>
        <p:txBody>
          <a:bodyPr wrap="square" lIns="0" rIns="0" tIns="0" bIns="0" anchor="t">
            <a:spAutoFit/>
          </a:bodyPr>
          <a:lstStyle/>
          <a:p>
            <a:pPr algn="l"/>
            <a:r>
              <a:rPr sz="1700" b="1" i="0">
                <a:solidFill>
                  <a:srgbClr val="1C1814"/>
                </a:solidFill>
                <a:latin typeface="Georgia"/>
              </a:rPr>
              <a:t>Count is not watch-time</a:t>
            </a:r>
          </a:p>
        </p:txBody>
      </p:sp>
      <p:sp>
        <p:nvSpPr>
          <p:cNvPr id="32" name="TextBox 31"/>
          <p:cNvSpPr txBox="1"/>
          <p:nvPr/>
        </p:nvSpPr>
        <p:spPr>
          <a:xfrm>
            <a:off x="868680" y="5029200"/>
            <a:ext cx="3383280" cy="1188720"/>
          </a:xfrm>
          <a:prstGeom prst="rect">
            <a:avLst/>
          </a:prstGeom>
          <a:noFill/>
        </p:spPr>
        <p:txBody>
          <a:bodyPr wrap="square" lIns="0" rIns="0" tIns="0" bIns="0" anchor="t">
            <a:spAutoFit/>
          </a:bodyPr>
          <a:lstStyle/>
          <a:p>
            <a:pPr algn="l"/>
            <a:r>
              <a:rPr sz="1300" b="0" i="0">
                <a:solidFill>
                  <a:srgbClr val="1C1814"/>
                </a:solidFill>
                <a:latin typeface="Calibri"/>
              </a:rPr>
              <a:t>A series takes far longer to watch than a film, so TV matters more than 30% suggests. This dataset has no viewing data to measure it.</a:t>
            </a:r>
          </a:p>
        </p:txBody>
      </p:sp>
      <p:cxnSp>
        <p:nvCxnSpPr>
          <p:cNvPr id="33" name="Connector 32"/>
          <p:cNvCxnSpPr/>
          <p:nvPr/>
        </p:nvCxnSpPr>
        <p:spPr>
          <a:xfrm>
            <a:off x="4572000" y="4526280"/>
            <a:ext cx="3383279"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572000" y="4617720"/>
            <a:ext cx="3383280" cy="365760"/>
          </a:xfrm>
          <a:prstGeom prst="rect">
            <a:avLst/>
          </a:prstGeom>
          <a:noFill/>
        </p:spPr>
        <p:txBody>
          <a:bodyPr wrap="square" lIns="0" rIns="0" tIns="0" bIns="0" anchor="t">
            <a:spAutoFit/>
          </a:bodyPr>
          <a:lstStyle/>
          <a:p>
            <a:pPr algn="l"/>
            <a:r>
              <a:rPr sz="1700" b="1" i="0">
                <a:solidFill>
                  <a:srgbClr val="1C1814"/>
                </a:solidFill>
                <a:latin typeface="Georgia"/>
              </a:rPr>
              <a:t>Still a movie library</a:t>
            </a:r>
          </a:p>
        </p:txBody>
      </p:sp>
      <p:sp>
        <p:nvSpPr>
          <p:cNvPr id="35" name="TextBox 34"/>
          <p:cNvSpPr txBox="1"/>
          <p:nvPr/>
        </p:nvSpPr>
        <p:spPr>
          <a:xfrm>
            <a:off x="4572000" y="5029200"/>
            <a:ext cx="3383280" cy="1188720"/>
          </a:xfrm>
          <a:prstGeom prst="rect">
            <a:avLst/>
          </a:prstGeom>
          <a:noFill/>
        </p:spPr>
        <p:txBody>
          <a:bodyPr wrap="square" lIns="0" rIns="0" tIns="0" bIns="0" anchor="t">
            <a:spAutoFit/>
          </a:bodyPr>
          <a:lstStyle/>
          <a:p>
            <a:pPr algn="l"/>
            <a:r>
              <a:rPr sz="1300" b="0" i="0">
                <a:solidFill>
                  <a:srgbClr val="1C1814"/>
                </a:solidFill>
                <a:latin typeface="Calibri"/>
              </a:rPr>
              <a:t>By number of titles, the catalogue is closer to a film archive than a box-set shelf.</a:t>
            </a:r>
          </a:p>
        </p:txBody>
      </p:sp>
      <p:cxnSp>
        <p:nvCxnSpPr>
          <p:cNvPr id="36" name="Connector 35"/>
          <p:cNvCxnSpPr/>
          <p:nvPr/>
        </p:nvCxnSpPr>
        <p:spPr>
          <a:xfrm>
            <a:off x="8275320" y="4526280"/>
            <a:ext cx="3383280"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275320" y="4617720"/>
            <a:ext cx="3383280" cy="365760"/>
          </a:xfrm>
          <a:prstGeom prst="rect">
            <a:avLst/>
          </a:prstGeom>
          <a:noFill/>
        </p:spPr>
        <p:txBody>
          <a:bodyPr wrap="square" lIns="0" rIns="0" tIns="0" bIns="0" anchor="t">
            <a:spAutoFit/>
          </a:bodyPr>
          <a:lstStyle/>
          <a:p>
            <a:pPr algn="l"/>
            <a:r>
              <a:rPr sz="1700" b="1" i="0">
                <a:solidFill>
                  <a:srgbClr val="1C1814"/>
                </a:solidFill>
                <a:latin typeface="Georgia"/>
              </a:rPr>
              <a:t>The balance moves</a:t>
            </a:r>
          </a:p>
        </p:txBody>
      </p:sp>
      <p:sp>
        <p:nvSpPr>
          <p:cNvPr id="38" name="TextBox 37"/>
          <p:cNvSpPr txBox="1"/>
          <p:nvPr/>
        </p:nvSpPr>
        <p:spPr>
          <a:xfrm>
            <a:off x="8275320" y="5029200"/>
            <a:ext cx="3383280" cy="1188720"/>
          </a:xfrm>
          <a:prstGeom prst="rect">
            <a:avLst/>
          </a:prstGeom>
          <a:noFill/>
        </p:spPr>
        <p:txBody>
          <a:bodyPr wrap="square" lIns="0" rIns="0" tIns="0" bIns="0" anchor="t">
            <a:spAutoFit/>
          </a:bodyPr>
          <a:lstStyle/>
          <a:p>
            <a:pPr algn="l"/>
            <a:r>
              <a:rPr sz="1300" b="0" i="0">
                <a:solidFill>
                  <a:srgbClr val="1C1814"/>
                </a:solidFill>
                <a:latin typeface="Calibri"/>
              </a:rPr>
              <a:t>TV's share was smaller in the early years and grew later (see reel 05).</a:t>
            </a:r>
          </a:p>
        </p:txBody>
      </p:sp>
      <p:sp>
        <p:nvSpPr>
          <p:cNvPr id="39" name="TextBox 38"/>
          <p:cNvSpPr txBox="1"/>
          <p:nvPr/>
        </p:nvSpPr>
        <p:spPr>
          <a:xfrm>
            <a:off x="868680" y="6446520"/>
            <a:ext cx="8229600" cy="228600"/>
          </a:xfrm>
          <a:prstGeom prst="rect">
            <a:avLst/>
          </a:prstGeom>
          <a:noFill/>
        </p:spPr>
        <p:txBody>
          <a:bodyPr wrap="square" lIns="0" rIns="0" tIns="0" bIns="0" anchor="t">
            <a:spAutoFit/>
          </a:bodyPr>
          <a:lstStyle/>
          <a:p>
            <a:pPr algn="l"/>
            <a:r>
              <a:rPr sz="900" b="0" i="0">
                <a:solidFill>
                  <a:srgbClr val="8C8173"/>
                </a:solidFill>
                <a:latin typeface="Courier New"/>
              </a:rPr>
              <a:t>Source: netflix_data.csv (8,807 titles, added to Sept 2021)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EBDC"/>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55448" y="2560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55448" y="6217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55448" y="9875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5448" y="13533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5448" y="17190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5448" y="20848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55448" y="245059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5448" y="281635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55448" y="318211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55448" y="354787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55448" y="39136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55448" y="42793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55448" y="46451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55448" y="50109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55448" y="53766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55448" y="57424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5448" y="61081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55448" y="64739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7200"/>
            <a:ext cx="7315200" cy="274320"/>
          </a:xfrm>
          <a:prstGeom prst="rect">
            <a:avLst/>
          </a:prstGeom>
          <a:noFill/>
        </p:spPr>
        <p:txBody>
          <a:bodyPr wrap="square" lIns="0" rIns="0" tIns="0" bIns="0" anchor="t">
            <a:spAutoFit/>
          </a:bodyPr>
          <a:lstStyle/>
          <a:p>
            <a:pPr algn="l"/>
            <a:r>
              <a:rPr sz="1200" b="1" i="0">
                <a:solidFill>
                  <a:srgbClr val="B3261E"/>
                </a:solidFill>
                <a:latin typeface="Courier New"/>
              </a:rPr>
              <a:t>02 / GROWTH</a:t>
            </a:r>
          </a:p>
        </p:txBody>
      </p:sp>
      <p:sp>
        <p:nvSpPr>
          <p:cNvPr id="22" name="TextBox 21"/>
          <p:cNvSpPr txBox="1"/>
          <p:nvPr/>
        </p:nvSpPr>
        <p:spPr>
          <a:xfrm>
            <a:off x="9509760" y="457200"/>
            <a:ext cx="2286000" cy="274320"/>
          </a:xfrm>
          <a:prstGeom prst="rect">
            <a:avLst/>
          </a:prstGeom>
          <a:noFill/>
        </p:spPr>
        <p:txBody>
          <a:bodyPr wrap="square" lIns="0" rIns="0" tIns="0" bIns="0" anchor="t">
            <a:spAutoFit/>
          </a:bodyPr>
          <a:lstStyle/>
          <a:p>
            <a:pPr algn="r"/>
            <a:r>
              <a:rPr sz="1100" b="0" i="0">
                <a:solidFill>
                  <a:srgbClr val="8C8173"/>
                </a:solidFill>
                <a:latin typeface="Courier New"/>
              </a:rPr>
              <a:t>REEL 05 / 15</a:t>
            </a:r>
          </a:p>
        </p:txBody>
      </p:sp>
      <p:sp>
        <p:nvSpPr>
          <p:cNvPr id="23" name="TextBox 22"/>
          <p:cNvSpPr txBox="1"/>
          <p:nvPr/>
        </p:nvSpPr>
        <p:spPr>
          <a:xfrm>
            <a:off x="868680" y="804672"/>
            <a:ext cx="10881360" cy="1188720"/>
          </a:xfrm>
          <a:prstGeom prst="rect">
            <a:avLst/>
          </a:prstGeom>
          <a:noFill/>
        </p:spPr>
        <p:txBody>
          <a:bodyPr wrap="square" lIns="0" rIns="0" tIns="0" bIns="0" anchor="t">
            <a:spAutoFit/>
          </a:bodyPr>
          <a:lstStyle/>
          <a:p>
            <a:pPr algn="l">
              <a:lnSpc>
                <a:spcPct val="95000"/>
              </a:lnSpc>
            </a:pPr>
            <a:r>
              <a:rPr sz="3000" b="1" i="0">
                <a:solidFill>
                  <a:srgbClr val="1C1814"/>
                </a:solidFill>
                <a:latin typeface="Georgia"/>
              </a:rPr>
              <a:t>From 82 titles a year to over 2,000 in four years</a:t>
            </a:r>
          </a:p>
        </p:txBody>
      </p:sp>
      <p:pic>
        <p:nvPicPr>
          <p:cNvPr id="24" name="Picture 23" descr="02_growth.png"/>
          <p:cNvPicPr>
            <a:picLocks noChangeAspect="1"/>
          </p:cNvPicPr>
          <p:nvPr/>
        </p:nvPicPr>
        <p:blipFill>
          <a:blip r:embed="rId2"/>
          <a:stretch>
            <a:fillRect/>
          </a:stretch>
        </p:blipFill>
        <p:spPr>
          <a:xfrm>
            <a:off x="868680" y="2148840"/>
            <a:ext cx="7772400" cy="3972559"/>
          </a:xfrm>
          <a:prstGeom prst="rect">
            <a:avLst/>
          </a:prstGeom>
        </p:spPr>
      </p:pic>
      <p:cxnSp>
        <p:nvCxnSpPr>
          <p:cNvPr id="25" name="Connector 24"/>
          <p:cNvCxnSpPr/>
          <p:nvPr/>
        </p:nvCxnSpPr>
        <p:spPr>
          <a:xfrm>
            <a:off x="9098280" y="2194560"/>
            <a:ext cx="2697479"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098280" y="2286000"/>
            <a:ext cx="2697480" cy="731520"/>
          </a:xfrm>
          <a:prstGeom prst="rect">
            <a:avLst/>
          </a:prstGeom>
          <a:noFill/>
        </p:spPr>
        <p:txBody>
          <a:bodyPr wrap="square" lIns="0" rIns="0" tIns="0" bIns="0" anchor="t">
            <a:spAutoFit/>
          </a:bodyPr>
          <a:lstStyle/>
          <a:p>
            <a:pPr algn="l"/>
            <a:r>
              <a:rPr sz="4000" b="1" i="0">
                <a:solidFill>
                  <a:srgbClr val="B3261E"/>
                </a:solidFill>
                <a:latin typeface="Georgia"/>
              </a:rPr>
              <a:t>2,016</a:t>
            </a:r>
          </a:p>
        </p:txBody>
      </p:sp>
      <p:sp>
        <p:nvSpPr>
          <p:cNvPr id="27" name="TextBox 26"/>
          <p:cNvSpPr txBox="1"/>
          <p:nvPr/>
        </p:nvSpPr>
        <p:spPr>
          <a:xfrm>
            <a:off x="9098280" y="2999232"/>
            <a:ext cx="26974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titles added in 2019, the peak year</a:t>
            </a:r>
          </a:p>
        </p:txBody>
      </p:sp>
      <p:cxnSp>
        <p:nvCxnSpPr>
          <p:cNvPr id="28" name="Connector 27"/>
          <p:cNvCxnSpPr/>
          <p:nvPr/>
        </p:nvCxnSpPr>
        <p:spPr>
          <a:xfrm>
            <a:off x="9098280" y="3566160"/>
            <a:ext cx="2697479"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098280" y="3657600"/>
            <a:ext cx="2697480" cy="731520"/>
          </a:xfrm>
          <a:prstGeom prst="rect">
            <a:avLst/>
          </a:prstGeom>
          <a:noFill/>
        </p:spPr>
        <p:txBody>
          <a:bodyPr wrap="square" lIns="0" rIns="0" tIns="0" bIns="0" anchor="t">
            <a:spAutoFit/>
          </a:bodyPr>
          <a:lstStyle/>
          <a:p>
            <a:pPr algn="l"/>
            <a:r>
              <a:rPr sz="4000" b="1" i="0">
                <a:solidFill>
                  <a:srgbClr val="D69E2E"/>
                </a:solidFill>
                <a:latin typeface="Georgia"/>
              </a:rPr>
              <a:t>25x</a:t>
            </a:r>
          </a:p>
        </p:txBody>
      </p:sp>
      <p:sp>
        <p:nvSpPr>
          <p:cNvPr id="30" name="TextBox 29"/>
          <p:cNvSpPr txBox="1"/>
          <p:nvPr/>
        </p:nvSpPr>
        <p:spPr>
          <a:xfrm>
            <a:off x="9098280" y="4370832"/>
            <a:ext cx="26974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growth from 2015 (82 titles) to 2019</a:t>
            </a:r>
          </a:p>
        </p:txBody>
      </p:sp>
      <p:cxnSp>
        <p:nvCxnSpPr>
          <p:cNvPr id="31" name="Connector 30"/>
          <p:cNvCxnSpPr/>
          <p:nvPr/>
        </p:nvCxnSpPr>
        <p:spPr>
          <a:xfrm>
            <a:off x="9098280" y="4937760"/>
            <a:ext cx="2697479"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098280" y="5029200"/>
            <a:ext cx="2697480" cy="731520"/>
          </a:xfrm>
          <a:prstGeom prst="rect">
            <a:avLst/>
          </a:prstGeom>
          <a:noFill/>
        </p:spPr>
        <p:txBody>
          <a:bodyPr wrap="square" lIns="0" rIns="0" tIns="0" bIns="0" anchor="t">
            <a:spAutoFit/>
          </a:bodyPr>
          <a:lstStyle/>
          <a:p>
            <a:pPr algn="l"/>
            <a:r>
              <a:rPr sz="4000" b="1" i="0">
                <a:solidFill>
                  <a:srgbClr val="B3261E"/>
                </a:solidFill>
                <a:latin typeface="Georgia"/>
              </a:rPr>
              <a:t>-7%</a:t>
            </a:r>
          </a:p>
        </p:txBody>
      </p:sp>
      <p:sp>
        <p:nvSpPr>
          <p:cNvPr id="33" name="TextBox 32"/>
          <p:cNvSpPr txBox="1"/>
          <p:nvPr/>
        </p:nvSpPr>
        <p:spPr>
          <a:xfrm>
            <a:off x="9098280" y="5742432"/>
            <a:ext cx="26974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dip in 2020; 2021 already had 1,498 by September</a:t>
            </a:r>
          </a:p>
        </p:txBody>
      </p:sp>
      <p:sp>
        <p:nvSpPr>
          <p:cNvPr id="34" name="TextBox 33"/>
          <p:cNvSpPr txBox="1"/>
          <p:nvPr/>
        </p:nvSpPr>
        <p:spPr>
          <a:xfrm>
            <a:off x="868680" y="6446520"/>
            <a:ext cx="8229600" cy="228600"/>
          </a:xfrm>
          <a:prstGeom prst="rect">
            <a:avLst/>
          </a:prstGeom>
          <a:noFill/>
        </p:spPr>
        <p:txBody>
          <a:bodyPr wrap="square" lIns="0" rIns="0" tIns="0" bIns="0" anchor="t">
            <a:spAutoFit/>
          </a:bodyPr>
          <a:lstStyle/>
          <a:p>
            <a:pPr algn="l"/>
            <a:r>
              <a:rPr sz="900" b="0" i="0">
                <a:solidFill>
                  <a:srgbClr val="8C8173"/>
                </a:solidFill>
                <a:latin typeface="Courier New"/>
              </a:rPr>
              <a:t>Source: netflix_data.csv (8,807 titles, added to Sept 2021)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EBDC"/>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55448" y="2560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55448" y="6217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55448" y="9875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5448" y="13533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5448" y="17190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5448" y="20848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55448" y="245059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5448" y="281635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55448" y="318211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55448" y="354787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55448" y="39136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55448" y="42793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55448" y="46451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55448" y="50109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55448" y="53766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55448" y="57424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5448" y="61081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55448" y="64739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7200"/>
            <a:ext cx="7315200" cy="274320"/>
          </a:xfrm>
          <a:prstGeom prst="rect">
            <a:avLst/>
          </a:prstGeom>
          <a:noFill/>
        </p:spPr>
        <p:txBody>
          <a:bodyPr wrap="square" lIns="0" rIns="0" tIns="0" bIns="0" anchor="t">
            <a:spAutoFit/>
          </a:bodyPr>
          <a:lstStyle/>
          <a:p>
            <a:pPr algn="l"/>
            <a:r>
              <a:rPr sz="1200" b="1" i="0">
                <a:solidFill>
                  <a:srgbClr val="B3261E"/>
                </a:solidFill>
                <a:latin typeface="Courier New"/>
              </a:rPr>
              <a:t>03 / HOW NEW IS IT?</a:t>
            </a:r>
          </a:p>
        </p:txBody>
      </p:sp>
      <p:sp>
        <p:nvSpPr>
          <p:cNvPr id="22" name="TextBox 21"/>
          <p:cNvSpPr txBox="1"/>
          <p:nvPr/>
        </p:nvSpPr>
        <p:spPr>
          <a:xfrm>
            <a:off x="9509760" y="457200"/>
            <a:ext cx="2286000" cy="274320"/>
          </a:xfrm>
          <a:prstGeom prst="rect">
            <a:avLst/>
          </a:prstGeom>
          <a:noFill/>
        </p:spPr>
        <p:txBody>
          <a:bodyPr wrap="square" lIns="0" rIns="0" tIns="0" bIns="0" anchor="t">
            <a:spAutoFit/>
          </a:bodyPr>
          <a:lstStyle/>
          <a:p>
            <a:pPr algn="r"/>
            <a:r>
              <a:rPr sz="1100" b="0" i="0">
                <a:solidFill>
                  <a:srgbClr val="8C8173"/>
                </a:solidFill>
                <a:latin typeface="Courier New"/>
              </a:rPr>
              <a:t>REEL 06 / 15</a:t>
            </a:r>
          </a:p>
        </p:txBody>
      </p:sp>
      <p:sp>
        <p:nvSpPr>
          <p:cNvPr id="23" name="TextBox 22"/>
          <p:cNvSpPr txBox="1"/>
          <p:nvPr/>
        </p:nvSpPr>
        <p:spPr>
          <a:xfrm>
            <a:off x="868680" y="804672"/>
            <a:ext cx="10881360" cy="1188720"/>
          </a:xfrm>
          <a:prstGeom prst="rect">
            <a:avLst/>
          </a:prstGeom>
          <a:noFill/>
        </p:spPr>
        <p:txBody>
          <a:bodyPr wrap="square" lIns="0" rIns="0" tIns="0" bIns="0" anchor="t">
            <a:spAutoFit/>
          </a:bodyPr>
          <a:lstStyle/>
          <a:p>
            <a:pPr algn="l">
              <a:lnSpc>
                <a:spcPct val="95000"/>
              </a:lnSpc>
            </a:pPr>
            <a:r>
              <a:rPr sz="3000" b="1" i="0">
                <a:solidFill>
                  <a:srgbClr val="1C1814"/>
                </a:solidFill>
                <a:latin typeface="Georgia"/>
              </a:rPr>
              <a:t>A young library: the median title lands one year after release</a:t>
            </a:r>
          </a:p>
        </p:txBody>
      </p:sp>
      <p:pic>
        <p:nvPicPr>
          <p:cNvPr id="24" name="Picture 23" descr="03_release_gap.png"/>
          <p:cNvPicPr>
            <a:picLocks noChangeAspect="1"/>
          </p:cNvPicPr>
          <p:nvPr/>
        </p:nvPicPr>
        <p:blipFill>
          <a:blip r:embed="rId2"/>
          <a:stretch>
            <a:fillRect/>
          </a:stretch>
        </p:blipFill>
        <p:spPr>
          <a:xfrm>
            <a:off x="3977639" y="2148840"/>
            <a:ext cx="7772400" cy="3799840"/>
          </a:xfrm>
          <a:prstGeom prst="rect">
            <a:avLst/>
          </a:prstGeom>
        </p:spPr>
      </p:pic>
      <p:cxnSp>
        <p:nvCxnSpPr>
          <p:cNvPr id="25" name="Connector 24"/>
          <p:cNvCxnSpPr/>
          <p:nvPr/>
        </p:nvCxnSpPr>
        <p:spPr>
          <a:xfrm>
            <a:off x="868680" y="2194560"/>
            <a:ext cx="2697480"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68680" y="2286000"/>
            <a:ext cx="2697480" cy="731520"/>
          </a:xfrm>
          <a:prstGeom prst="rect">
            <a:avLst/>
          </a:prstGeom>
          <a:noFill/>
        </p:spPr>
        <p:txBody>
          <a:bodyPr wrap="square" lIns="0" rIns="0" tIns="0" bIns="0" anchor="t">
            <a:spAutoFit/>
          </a:bodyPr>
          <a:lstStyle/>
          <a:p>
            <a:pPr algn="l"/>
            <a:r>
              <a:rPr sz="4000" b="1" i="0">
                <a:solidFill>
                  <a:srgbClr val="B3261E"/>
                </a:solidFill>
                <a:latin typeface="Georgia"/>
              </a:rPr>
              <a:t>1 year</a:t>
            </a:r>
          </a:p>
        </p:txBody>
      </p:sp>
      <p:sp>
        <p:nvSpPr>
          <p:cNvPr id="27" name="TextBox 26"/>
          <p:cNvSpPr txBox="1"/>
          <p:nvPr/>
        </p:nvSpPr>
        <p:spPr>
          <a:xfrm>
            <a:off x="868680" y="2999232"/>
            <a:ext cx="26974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median gap between release and arriving on Netflix</a:t>
            </a:r>
          </a:p>
        </p:txBody>
      </p:sp>
      <p:cxnSp>
        <p:nvCxnSpPr>
          <p:cNvPr id="28" name="Connector 27"/>
          <p:cNvCxnSpPr/>
          <p:nvPr/>
        </p:nvCxnSpPr>
        <p:spPr>
          <a:xfrm>
            <a:off x="868680" y="3566160"/>
            <a:ext cx="2697480"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68680" y="3657600"/>
            <a:ext cx="2697480" cy="731520"/>
          </a:xfrm>
          <a:prstGeom prst="rect">
            <a:avLst/>
          </a:prstGeom>
          <a:noFill/>
        </p:spPr>
        <p:txBody>
          <a:bodyPr wrap="square" lIns="0" rIns="0" tIns="0" bIns="0" anchor="t">
            <a:spAutoFit/>
          </a:bodyPr>
          <a:lstStyle/>
          <a:p>
            <a:pPr algn="l"/>
            <a:r>
              <a:rPr sz="4000" b="1" i="0">
                <a:solidFill>
                  <a:srgbClr val="D69E2E"/>
                </a:solidFill>
                <a:latin typeface="Georgia"/>
              </a:rPr>
              <a:t>63%</a:t>
            </a:r>
          </a:p>
        </p:txBody>
      </p:sp>
      <p:sp>
        <p:nvSpPr>
          <p:cNvPr id="30" name="TextBox 29"/>
          <p:cNvSpPr txBox="1"/>
          <p:nvPr/>
        </p:nvSpPr>
        <p:spPr>
          <a:xfrm>
            <a:off x="868680" y="4370832"/>
            <a:ext cx="26974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arrive within two years of release</a:t>
            </a:r>
          </a:p>
        </p:txBody>
      </p:sp>
      <p:cxnSp>
        <p:nvCxnSpPr>
          <p:cNvPr id="31" name="Connector 30"/>
          <p:cNvCxnSpPr/>
          <p:nvPr/>
        </p:nvCxnSpPr>
        <p:spPr>
          <a:xfrm>
            <a:off x="868680" y="4937760"/>
            <a:ext cx="2697480"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68680" y="5029200"/>
            <a:ext cx="2697480" cy="731520"/>
          </a:xfrm>
          <a:prstGeom prst="rect">
            <a:avLst/>
          </a:prstGeom>
          <a:noFill/>
        </p:spPr>
        <p:txBody>
          <a:bodyPr wrap="square" lIns="0" rIns="0" tIns="0" bIns="0" anchor="t">
            <a:spAutoFit/>
          </a:bodyPr>
          <a:lstStyle/>
          <a:p>
            <a:pPr algn="l"/>
            <a:r>
              <a:rPr sz="4000" b="1" i="0">
                <a:solidFill>
                  <a:srgbClr val="B3261E"/>
                </a:solidFill>
                <a:latin typeface="Georgia"/>
              </a:rPr>
              <a:t>71%</a:t>
            </a:r>
          </a:p>
        </p:txBody>
      </p:sp>
      <p:sp>
        <p:nvSpPr>
          <p:cNvPr id="33" name="TextBox 32"/>
          <p:cNvSpPr txBox="1"/>
          <p:nvPr/>
        </p:nvSpPr>
        <p:spPr>
          <a:xfrm>
            <a:off x="868680" y="5742432"/>
            <a:ext cx="26974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of titles were released in 2015 or later</a:t>
            </a:r>
          </a:p>
        </p:txBody>
      </p:sp>
      <p:sp>
        <p:nvSpPr>
          <p:cNvPr id="34" name="TextBox 33"/>
          <p:cNvSpPr txBox="1"/>
          <p:nvPr/>
        </p:nvSpPr>
        <p:spPr>
          <a:xfrm>
            <a:off x="868680" y="6446520"/>
            <a:ext cx="8229600" cy="228600"/>
          </a:xfrm>
          <a:prstGeom prst="rect">
            <a:avLst/>
          </a:prstGeom>
          <a:noFill/>
        </p:spPr>
        <p:txBody>
          <a:bodyPr wrap="square" lIns="0" rIns="0" tIns="0" bIns="0" anchor="t">
            <a:spAutoFit/>
          </a:bodyPr>
          <a:lstStyle/>
          <a:p>
            <a:pPr algn="l"/>
            <a:r>
              <a:rPr sz="900" b="0" i="0">
                <a:solidFill>
                  <a:srgbClr val="8C8173"/>
                </a:solidFill>
                <a:latin typeface="Courier New"/>
              </a:rPr>
              <a:t>Source: netflix_data.csv (8,807 titles, added to Sept 2021)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EBDC"/>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55448" y="2560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55448" y="6217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55448" y="9875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5448" y="13533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5448" y="17190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5448" y="20848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55448" y="245059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5448" y="281635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55448" y="318211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55448" y="354787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55448" y="39136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55448" y="42793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55448" y="46451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55448" y="50109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55448" y="53766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55448" y="57424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5448" y="61081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55448" y="64739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7200"/>
            <a:ext cx="7315200" cy="274320"/>
          </a:xfrm>
          <a:prstGeom prst="rect">
            <a:avLst/>
          </a:prstGeom>
          <a:noFill/>
        </p:spPr>
        <p:txBody>
          <a:bodyPr wrap="square" lIns="0" rIns="0" tIns="0" bIns="0" anchor="t">
            <a:spAutoFit/>
          </a:bodyPr>
          <a:lstStyle/>
          <a:p>
            <a:pPr algn="l"/>
            <a:r>
              <a:rPr sz="1200" b="1" i="0">
                <a:solidFill>
                  <a:srgbClr val="B3261E"/>
                </a:solidFill>
                <a:latin typeface="Courier New"/>
              </a:rPr>
              <a:t>04 / GEOGRAPHY</a:t>
            </a:r>
          </a:p>
        </p:txBody>
      </p:sp>
      <p:sp>
        <p:nvSpPr>
          <p:cNvPr id="22" name="TextBox 21"/>
          <p:cNvSpPr txBox="1"/>
          <p:nvPr/>
        </p:nvSpPr>
        <p:spPr>
          <a:xfrm>
            <a:off x="9509760" y="457200"/>
            <a:ext cx="2286000" cy="274320"/>
          </a:xfrm>
          <a:prstGeom prst="rect">
            <a:avLst/>
          </a:prstGeom>
          <a:noFill/>
        </p:spPr>
        <p:txBody>
          <a:bodyPr wrap="square" lIns="0" rIns="0" tIns="0" bIns="0" anchor="t">
            <a:spAutoFit/>
          </a:bodyPr>
          <a:lstStyle/>
          <a:p>
            <a:pPr algn="r"/>
            <a:r>
              <a:rPr sz="1100" b="0" i="0">
                <a:solidFill>
                  <a:srgbClr val="8C8173"/>
                </a:solidFill>
                <a:latin typeface="Courier New"/>
              </a:rPr>
              <a:t>REEL 07 / 15</a:t>
            </a:r>
          </a:p>
        </p:txBody>
      </p:sp>
      <p:sp>
        <p:nvSpPr>
          <p:cNvPr id="23" name="TextBox 22"/>
          <p:cNvSpPr txBox="1"/>
          <p:nvPr/>
        </p:nvSpPr>
        <p:spPr>
          <a:xfrm>
            <a:off x="868680" y="804672"/>
            <a:ext cx="10881360" cy="1188720"/>
          </a:xfrm>
          <a:prstGeom prst="rect">
            <a:avLst/>
          </a:prstGeom>
          <a:noFill/>
        </p:spPr>
        <p:txBody>
          <a:bodyPr wrap="square" lIns="0" rIns="0" tIns="0" bIns="0" anchor="t">
            <a:spAutoFit/>
          </a:bodyPr>
          <a:lstStyle/>
          <a:p>
            <a:pPr algn="l">
              <a:lnSpc>
                <a:spcPct val="95000"/>
              </a:lnSpc>
            </a:pPr>
            <a:r>
              <a:rPr sz="3000" b="1" i="0">
                <a:solidFill>
                  <a:srgbClr val="1C1814"/>
                </a:solidFill>
                <a:latin typeface="Georgia"/>
              </a:rPr>
              <a:t>America leads, and India is the surprise runner-up</a:t>
            </a:r>
          </a:p>
        </p:txBody>
      </p:sp>
      <p:pic>
        <p:nvPicPr>
          <p:cNvPr id="24" name="Picture 23" descr="04_countries.png"/>
          <p:cNvPicPr>
            <a:picLocks noChangeAspect="1"/>
          </p:cNvPicPr>
          <p:nvPr/>
        </p:nvPicPr>
        <p:blipFill>
          <a:blip r:embed="rId2"/>
          <a:stretch>
            <a:fillRect/>
          </a:stretch>
        </p:blipFill>
        <p:spPr>
          <a:xfrm>
            <a:off x="868680" y="2148840"/>
            <a:ext cx="6858000" cy="4114800"/>
          </a:xfrm>
          <a:prstGeom prst="rect">
            <a:avLst/>
          </a:prstGeom>
        </p:spPr>
      </p:pic>
      <p:cxnSp>
        <p:nvCxnSpPr>
          <p:cNvPr id="25" name="Connector 24"/>
          <p:cNvCxnSpPr/>
          <p:nvPr/>
        </p:nvCxnSpPr>
        <p:spPr>
          <a:xfrm>
            <a:off x="9098280" y="2194560"/>
            <a:ext cx="2697479"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098280" y="2286000"/>
            <a:ext cx="2697480" cy="731520"/>
          </a:xfrm>
          <a:prstGeom prst="rect">
            <a:avLst/>
          </a:prstGeom>
          <a:noFill/>
        </p:spPr>
        <p:txBody>
          <a:bodyPr wrap="square" lIns="0" rIns="0" tIns="0" bIns="0" anchor="t">
            <a:spAutoFit/>
          </a:bodyPr>
          <a:lstStyle/>
          <a:p>
            <a:pPr algn="l"/>
            <a:r>
              <a:rPr sz="4000" b="1" i="0">
                <a:solidFill>
                  <a:srgbClr val="B3261E"/>
                </a:solidFill>
                <a:latin typeface="Georgia"/>
              </a:rPr>
              <a:t>46%</a:t>
            </a:r>
          </a:p>
        </p:txBody>
      </p:sp>
      <p:sp>
        <p:nvSpPr>
          <p:cNvPr id="27" name="TextBox 26"/>
          <p:cNvSpPr txBox="1"/>
          <p:nvPr/>
        </p:nvSpPr>
        <p:spPr>
          <a:xfrm>
            <a:off x="9098280" y="2999232"/>
            <a:ext cx="26974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of titles with a known country involve the United States</a:t>
            </a:r>
          </a:p>
        </p:txBody>
      </p:sp>
      <p:cxnSp>
        <p:nvCxnSpPr>
          <p:cNvPr id="28" name="Connector 27"/>
          <p:cNvCxnSpPr/>
          <p:nvPr/>
        </p:nvCxnSpPr>
        <p:spPr>
          <a:xfrm>
            <a:off x="9098280" y="3566160"/>
            <a:ext cx="2697479"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098280" y="3657600"/>
            <a:ext cx="2697480" cy="731520"/>
          </a:xfrm>
          <a:prstGeom prst="rect">
            <a:avLst/>
          </a:prstGeom>
          <a:noFill/>
        </p:spPr>
        <p:txBody>
          <a:bodyPr wrap="square" lIns="0" rIns="0" tIns="0" bIns="0" anchor="t">
            <a:spAutoFit/>
          </a:bodyPr>
          <a:lstStyle/>
          <a:p>
            <a:pPr algn="l"/>
            <a:r>
              <a:rPr sz="4000" b="1" i="0">
                <a:solidFill>
                  <a:srgbClr val="D69E2E"/>
                </a:solidFill>
                <a:latin typeface="Georgia"/>
              </a:rPr>
              <a:t>1,046</a:t>
            </a:r>
          </a:p>
        </p:txBody>
      </p:sp>
      <p:sp>
        <p:nvSpPr>
          <p:cNvPr id="30" name="TextBox 29"/>
          <p:cNvSpPr txBox="1"/>
          <p:nvPr/>
        </p:nvSpPr>
        <p:spPr>
          <a:xfrm>
            <a:off x="9098280" y="4370832"/>
            <a:ext cx="26974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titles involve India, more than the UK or Canada</a:t>
            </a:r>
          </a:p>
        </p:txBody>
      </p:sp>
      <p:cxnSp>
        <p:nvCxnSpPr>
          <p:cNvPr id="31" name="Connector 30"/>
          <p:cNvCxnSpPr/>
          <p:nvPr/>
        </p:nvCxnSpPr>
        <p:spPr>
          <a:xfrm>
            <a:off x="9098280" y="4937760"/>
            <a:ext cx="2697479"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098280" y="5029200"/>
            <a:ext cx="2697480" cy="731520"/>
          </a:xfrm>
          <a:prstGeom prst="rect">
            <a:avLst/>
          </a:prstGeom>
          <a:noFill/>
        </p:spPr>
        <p:txBody>
          <a:bodyPr wrap="square" lIns="0" rIns="0" tIns="0" bIns="0" anchor="t">
            <a:spAutoFit/>
          </a:bodyPr>
          <a:lstStyle/>
          <a:p>
            <a:pPr algn="l"/>
            <a:r>
              <a:rPr sz="4000" b="1" i="0">
                <a:solidFill>
                  <a:srgbClr val="B3261E"/>
                </a:solidFill>
                <a:latin typeface="Georgia"/>
              </a:rPr>
              <a:t>122</a:t>
            </a:r>
          </a:p>
        </p:txBody>
      </p:sp>
      <p:sp>
        <p:nvSpPr>
          <p:cNvPr id="33" name="TextBox 32"/>
          <p:cNvSpPr txBox="1"/>
          <p:nvPr/>
        </p:nvSpPr>
        <p:spPr>
          <a:xfrm>
            <a:off x="9098280" y="5742432"/>
            <a:ext cx="26974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countries appear in the catalogue</a:t>
            </a:r>
          </a:p>
        </p:txBody>
      </p:sp>
      <p:sp>
        <p:nvSpPr>
          <p:cNvPr id="34" name="TextBox 33"/>
          <p:cNvSpPr txBox="1"/>
          <p:nvPr/>
        </p:nvSpPr>
        <p:spPr>
          <a:xfrm>
            <a:off x="868680" y="6446520"/>
            <a:ext cx="8229600" cy="228600"/>
          </a:xfrm>
          <a:prstGeom prst="rect">
            <a:avLst/>
          </a:prstGeom>
          <a:noFill/>
        </p:spPr>
        <p:txBody>
          <a:bodyPr wrap="square" lIns="0" rIns="0" tIns="0" bIns="0" anchor="t">
            <a:spAutoFit/>
          </a:bodyPr>
          <a:lstStyle/>
          <a:p>
            <a:pPr algn="l"/>
            <a:r>
              <a:rPr sz="900" b="0" i="0">
                <a:solidFill>
                  <a:srgbClr val="8C8173"/>
                </a:solidFill>
                <a:latin typeface="Courier New"/>
              </a:rPr>
              <a:t>Source: netflix_data.csv (8,807 titles, added to Sept 2021)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EBDC"/>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55448" y="2560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55448" y="6217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55448" y="9875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5448" y="13533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5448" y="17190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5448" y="20848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55448" y="245059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5448" y="281635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55448" y="318211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55448" y="354787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55448" y="39136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55448" y="42793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55448" y="46451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55448" y="50109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55448" y="53766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55448" y="57424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5448" y="61081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55448" y="64739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7200"/>
            <a:ext cx="7315200" cy="274320"/>
          </a:xfrm>
          <a:prstGeom prst="rect">
            <a:avLst/>
          </a:prstGeom>
          <a:noFill/>
        </p:spPr>
        <p:txBody>
          <a:bodyPr wrap="square" lIns="0" rIns="0" tIns="0" bIns="0" anchor="t">
            <a:spAutoFit/>
          </a:bodyPr>
          <a:lstStyle/>
          <a:p>
            <a:pPr algn="l"/>
            <a:r>
              <a:rPr sz="1200" b="1" i="0">
                <a:solidFill>
                  <a:srgbClr val="B3261E"/>
                </a:solidFill>
                <a:latin typeface="Courier New"/>
              </a:rPr>
              <a:t>04 / GEOGRAPHY, CONTINUED</a:t>
            </a:r>
          </a:p>
        </p:txBody>
      </p:sp>
      <p:sp>
        <p:nvSpPr>
          <p:cNvPr id="22" name="TextBox 21"/>
          <p:cNvSpPr txBox="1"/>
          <p:nvPr/>
        </p:nvSpPr>
        <p:spPr>
          <a:xfrm>
            <a:off x="9509760" y="457200"/>
            <a:ext cx="2286000" cy="274320"/>
          </a:xfrm>
          <a:prstGeom prst="rect">
            <a:avLst/>
          </a:prstGeom>
          <a:noFill/>
        </p:spPr>
        <p:txBody>
          <a:bodyPr wrap="square" lIns="0" rIns="0" tIns="0" bIns="0" anchor="t">
            <a:spAutoFit/>
          </a:bodyPr>
          <a:lstStyle/>
          <a:p>
            <a:pPr algn="r"/>
            <a:r>
              <a:rPr sz="1100" b="0" i="0">
                <a:solidFill>
                  <a:srgbClr val="8C8173"/>
                </a:solidFill>
                <a:latin typeface="Courier New"/>
              </a:rPr>
              <a:t>REEL 08 / 15</a:t>
            </a:r>
          </a:p>
        </p:txBody>
      </p:sp>
      <p:sp>
        <p:nvSpPr>
          <p:cNvPr id="23" name="TextBox 22"/>
          <p:cNvSpPr txBox="1"/>
          <p:nvPr/>
        </p:nvSpPr>
        <p:spPr>
          <a:xfrm>
            <a:off x="868680" y="804672"/>
            <a:ext cx="10881360" cy="1188720"/>
          </a:xfrm>
          <a:prstGeom prst="rect">
            <a:avLst/>
          </a:prstGeom>
          <a:noFill/>
        </p:spPr>
        <p:txBody>
          <a:bodyPr wrap="square" lIns="0" rIns="0" tIns="0" bIns="0" anchor="t">
            <a:spAutoFit/>
          </a:bodyPr>
          <a:lstStyle/>
          <a:p>
            <a:pPr algn="l">
              <a:lnSpc>
                <a:spcPct val="95000"/>
              </a:lnSpc>
            </a:pPr>
            <a:r>
              <a:rPr sz="3000" b="1" i="0">
                <a:solidFill>
                  <a:srgbClr val="1C1814"/>
                </a:solidFill>
                <a:latin typeface="Georgia"/>
              </a:rPr>
              <a:t>India is a movie country, South Korea is a TV country</a:t>
            </a:r>
          </a:p>
        </p:txBody>
      </p:sp>
      <p:pic>
        <p:nvPicPr>
          <p:cNvPr id="24" name="Picture 23" descr="05_country_mix.png"/>
          <p:cNvPicPr>
            <a:picLocks noChangeAspect="1"/>
          </p:cNvPicPr>
          <p:nvPr/>
        </p:nvPicPr>
        <p:blipFill>
          <a:blip r:embed="rId2"/>
          <a:stretch>
            <a:fillRect/>
          </a:stretch>
        </p:blipFill>
        <p:spPr>
          <a:xfrm>
            <a:off x="3977639" y="2148840"/>
            <a:ext cx="7481454" cy="4114800"/>
          </a:xfrm>
          <a:prstGeom prst="rect">
            <a:avLst/>
          </a:prstGeom>
        </p:spPr>
      </p:pic>
      <p:cxnSp>
        <p:nvCxnSpPr>
          <p:cNvPr id="25" name="Connector 24"/>
          <p:cNvCxnSpPr/>
          <p:nvPr/>
        </p:nvCxnSpPr>
        <p:spPr>
          <a:xfrm>
            <a:off x="868680" y="2194560"/>
            <a:ext cx="2697480"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68680" y="2286000"/>
            <a:ext cx="2697480" cy="731520"/>
          </a:xfrm>
          <a:prstGeom prst="rect">
            <a:avLst/>
          </a:prstGeom>
          <a:noFill/>
        </p:spPr>
        <p:txBody>
          <a:bodyPr wrap="square" lIns="0" rIns="0" tIns="0" bIns="0" anchor="t">
            <a:spAutoFit/>
          </a:bodyPr>
          <a:lstStyle/>
          <a:p>
            <a:pPr algn="l"/>
            <a:r>
              <a:rPr sz="4000" b="1" i="0">
                <a:solidFill>
                  <a:srgbClr val="B3261E"/>
                </a:solidFill>
                <a:latin typeface="Georgia"/>
              </a:rPr>
              <a:t>92%</a:t>
            </a:r>
          </a:p>
        </p:txBody>
      </p:sp>
      <p:sp>
        <p:nvSpPr>
          <p:cNvPr id="27" name="TextBox 26"/>
          <p:cNvSpPr txBox="1"/>
          <p:nvPr/>
        </p:nvSpPr>
        <p:spPr>
          <a:xfrm>
            <a:off x="868680" y="2999232"/>
            <a:ext cx="26974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of India's titles are movies</a:t>
            </a:r>
          </a:p>
        </p:txBody>
      </p:sp>
      <p:cxnSp>
        <p:nvCxnSpPr>
          <p:cNvPr id="28" name="Connector 27"/>
          <p:cNvCxnSpPr/>
          <p:nvPr/>
        </p:nvCxnSpPr>
        <p:spPr>
          <a:xfrm>
            <a:off x="868680" y="3566160"/>
            <a:ext cx="2697480"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68680" y="3657600"/>
            <a:ext cx="2697480" cy="731520"/>
          </a:xfrm>
          <a:prstGeom prst="rect">
            <a:avLst/>
          </a:prstGeom>
          <a:noFill/>
        </p:spPr>
        <p:txBody>
          <a:bodyPr wrap="square" lIns="0" rIns="0" tIns="0" bIns="0" anchor="t">
            <a:spAutoFit/>
          </a:bodyPr>
          <a:lstStyle/>
          <a:p>
            <a:pPr algn="l"/>
            <a:r>
              <a:rPr sz="4000" b="1" i="0">
                <a:solidFill>
                  <a:srgbClr val="D69E2E"/>
                </a:solidFill>
                <a:latin typeface="Georgia"/>
              </a:rPr>
              <a:t>74%</a:t>
            </a:r>
          </a:p>
        </p:txBody>
      </p:sp>
      <p:sp>
        <p:nvSpPr>
          <p:cNvPr id="30" name="TextBox 29"/>
          <p:cNvSpPr txBox="1"/>
          <p:nvPr/>
        </p:nvSpPr>
        <p:spPr>
          <a:xfrm>
            <a:off x="868680" y="4370832"/>
            <a:ext cx="26974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of South Korea's titles are TV shows</a:t>
            </a:r>
          </a:p>
        </p:txBody>
      </p:sp>
      <p:cxnSp>
        <p:nvCxnSpPr>
          <p:cNvPr id="31" name="Connector 30"/>
          <p:cNvCxnSpPr/>
          <p:nvPr/>
        </p:nvCxnSpPr>
        <p:spPr>
          <a:xfrm>
            <a:off x="868680" y="4937760"/>
            <a:ext cx="2697480"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68680" y="5029200"/>
            <a:ext cx="2697480" cy="731520"/>
          </a:xfrm>
          <a:prstGeom prst="rect">
            <a:avLst/>
          </a:prstGeom>
          <a:noFill/>
        </p:spPr>
        <p:txBody>
          <a:bodyPr wrap="square" lIns="0" rIns="0" tIns="0" bIns="0" anchor="t">
            <a:spAutoFit/>
          </a:bodyPr>
          <a:lstStyle/>
          <a:p>
            <a:pPr algn="l"/>
            <a:r>
              <a:rPr sz="4000" b="1" i="0">
                <a:solidFill>
                  <a:srgbClr val="D69E2E"/>
                </a:solidFill>
                <a:latin typeface="Georgia"/>
              </a:rPr>
              <a:t>63%</a:t>
            </a:r>
          </a:p>
        </p:txBody>
      </p:sp>
      <p:sp>
        <p:nvSpPr>
          <p:cNvPr id="33" name="TextBox 32"/>
          <p:cNvSpPr txBox="1"/>
          <p:nvPr/>
        </p:nvSpPr>
        <p:spPr>
          <a:xfrm>
            <a:off x="868680" y="5742432"/>
            <a:ext cx="26974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of Japan's are TV (anime and drama)</a:t>
            </a:r>
          </a:p>
        </p:txBody>
      </p:sp>
      <p:sp>
        <p:nvSpPr>
          <p:cNvPr id="34" name="TextBox 33"/>
          <p:cNvSpPr txBox="1"/>
          <p:nvPr/>
        </p:nvSpPr>
        <p:spPr>
          <a:xfrm>
            <a:off x="868680" y="6446520"/>
            <a:ext cx="8229600" cy="228600"/>
          </a:xfrm>
          <a:prstGeom prst="rect">
            <a:avLst/>
          </a:prstGeom>
          <a:noFill/>
        </p:spPr>
        <p:txBody>
          <a:bodyPr wrap="square" lIns="0" rIns="0" tIns="0" bIns="0" anchor="t">
            <a:spAutoFit/>
          </a:bodyPr>
          <a:lstStyle/>
          <a:p>
            <a:pPr algn="l"/>
            <a:r>
              <a:rPr sz="900" b="0" i="0">
                <a:solidFill>
                  <a:srgbClr val="8C8173"/>
                </a:solidFill>
                <a:latin typeface="Courier New"/>
              </a:rPr>
              <a:t>Source: netflix_data.csv (8,807 titles, added to Sept 2021)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EBDC"/>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55448" y="2560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55448" y="6217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55448" y="9875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5448" y="13533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5448" y="17190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5448" y="20848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55448" y="245059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5448" y="281635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55448" y="318211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55448" y="354787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55448" y="39136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55448" y="42793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55448" y="46451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55448" y="50109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55448" y="53766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55448" y="57424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5448" y="61081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55448" y="64739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7200"/>
            <a:ext cx="7315200" cy="274320"/>
          </a:xfrm>
          <a:prstGeom prst="rect">
            <a:avLst/>
          </a:prstGeom>
          <a:noFill/>
        </p:spPr>
        <p:txBody>
          <a:bodyPr wrap="square" lIns="0" rIns="0" tIns="0" bIns="0" anchor="t">
            <a:spAutoFit/>
          </a:bodyPr>
          <a:lstStyle/>
          <a:p>
            <a:pPr algn="l"/>
            <a:r>
              <a:rPr sz="1200" b="1" i="0">
                <a:solidFill>
                  <a:srgbClr val="B3261E"/>
                </a:solidFill>
                <a:latin typeface="Courier New"/>
              </a:rPr>
              <a:t>05 / GENRES</a:t>
            </a:r>
          </a:p>
        </p:txBody>
      </p:sp>
      <p:sp>
        <p:nvSpPr>
          <p:cNvPr id="22" name="TextBox 21"/>
          <p:cNvSpPr txBox="1"/>
          <p:nvPr/>
        </p:nvSpPr>
        <p:spPr>
          <a:xfrm>
            <a:off x="9509760" y="457200"/>
            <a:ext cx="2286000" cy="274320"/>
          </a:xfrm>
          <a:prstGeom prst="rect">
            <a:avLst/>
          </a:prstGeom>
          <a:noFill/>
        </p:spPr>
        <p:txBody>
          <a:bodyPr wrap="square" lIns="0" rIns="0" tIns="0" bIns="0" anchor="t">
            <a:spAutoFit/>
          </a:bodyPr>
          <a:lstStyle/>
          <a:p>
            <a:pPr algn="r"/>
            <a:r>
              <a:rPr sz="1100" b="0" i="0">
                <a:solidFill>
                  <a:srgbClr val="8C8173"/>
                </a:solidFill>
                <a:latin typeface="Courier New"/>
              </a:rPr>
              <a:t>REEL 09 / 15</a:t>
            </a:r>
          </a:p>
        </p:txBody>
      </p:sp>
      <p:sp>
        <p:nvSpPr>
          <p:cNvPr id="23" name="TextBox 22"/>
          <p:cNvSpPr txBox="1"/>
          <p:nvPr/>
        </p:nvSpPr>
        <p:spPr>
          <a:xfrm>
            <a:off x="868680" y="804672"/>
            <a:ext cx="10881360" cy="1188720"/>
          </a:xfrm>
          <a:prstGeom prst="rect">
            <a:avLst/>
          </a:prstGeom>
          <a:noFill/>
        </p:spPr>
        <p:txBody>
          <a:bodyPr wrap="square" lIns="0" rIns="0" tIns="0" bIns="0" anchor="t">
            <a:spAutoFit/>
          </a:bodyPr>
          <a:lstStyle/>
          <a:p>
            <a:pPr algn="l">
              <a:lnSpc>
                <a:spcPct val="95000"/>
              </a:lnSpc>
            </a:pPr>
            <a:r>
              <a:rPr sz="3000" b="1" i="0">
                <a:solidFill>
                  <a:srgbClr val="1C1814"/>
                </a:solidFill>
                <a:latin typeface="Georgia"/>
              </a:rPr>
              <a:t>International stories, told as drama and comedy</a:t>
            </a:r>
          </a:p>
        </p:txBody>
      </p:sp>
      <p:pic>
        <p:nvPicPr>
          <p:cNvPr id="24" name="Picture 23" descr="06_genres.png"/>
          <p:cNvPicPr>
            <a:picLocks noChangeAspect="1"/>
          </p:cNvPicPr>
          <p:nvPr/>
        </p:nvPicPr>
        <p:blipFill>
          <a:blip r:embed="rId2"/>
          <a:stretch>
            <a:fillRect/>
          </a:stretch>
        </p:blipFill>
        <p:spPr>
          <a:xfrm>
            <a:off x="868680" y="2148840"/>
            <a:ext cx="6858000" cy="4114800"/>
          </a:xfrm>
          <a:prstGeom prst="rect">
            <a:avLst/>
          </a:prstGeom>
        </p:spPr>
      </p:pic>
      <p:cxnSp>
        <p:nvCxnSpPr>
          <p:cNvPr id="25" name="Connector 24"/>
          <p:cNvCxnSpPr/>
          <p:nvPr/>
        </p:nvCxnSpPr>
        <p:spPr>
          <a:xfrm>
            <a:off x="9098280" y="2194560"/>
            <a:ext cx="2697479"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098280" y="2286000"/>
            <a:ext cx="2697480" cy="731520"/>
          </a:xfrm>
          <a:prstGeom prst="rect">
            <a:avLst/>
          </a:prstGeom>
          <a:noFill/>
        </p:spPr>
        <p:txBody>
          <a:bodyPr wrap="square" lIns="0" rIns="0" tIns="0" bIns="0" anchor="t">
            <a:spAutoFit/>
          </a:bodyPr>
          <a:lstStyle/>
          <a:p>
            <a:pPr algn="l"/>
            <a:r>
              <a:rPr sz="4000" b="1" i="0">
                <a:solidFill>
                  <a:srgbClr val="B3261E"/>
                </a:solidFill>
                <a:latin typeface="Georgia"/>
              </a:rPr>
              <a:t>2,752</a:t>
            </a:r>
          </a:p>
        </p:txBody>
      </p:sp>
      <p:sp>
        <p:nvSpPr>
          <p:cNvPr id="27" name="TextBox 26"/>
          <p:cNvSpPr txBox="1"/>
          <p:nvPr/>
        </p:nvSpPr>
        <p:spPr>
          <a:xfrm>
            <a:off x="9098280" y="2999232"/>
            <a:ext cx="26974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International Movies, the biggest single label</a:t>
            </a:r>
          </a:p>
        </p:txBody>
      </p:sp>
      <p:cxnSp>
        <p:nvCxnSpPr>
          <p:cNvPr id="28" name="Connector 27"/>
          <p:cNvCxnSpPr/>
          <p:nvPr/>
        </p:nvCxnSpPr>
        <p:spPr>
          <a:xfrm>
            <a:off x="9098280" y="3566160"/>
            <a:ext cx="2697479"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098280" y="3657600"/>
            <a:ext cx="2697480" cy="731520"/>
          </a:xfrm>
          <a:prstGeom prst="rect">
            <a:avLst/>
          </a:prstGeom>
          <a:noFill/>
        </p:spPr>
        <p:txBody>
          <a:bodyPr wrap="square" lIns="0" rIns="0" tIns="0" bIns="0" anchor="t">
            <a:spAutoFit/>
          </a:bodyPr>
          <a:lstStyle/>
          <a:p>
            <a:pPr algn="l"/>
            <a:r>
              <a:rPr sz="4000" b="1" i="0">
                <a:solidFill>
                  <a:srgbClr val="D69E2E"/>
                </a:solidFill>
                <a:latin typeface="Georgia"/>
              </a:rPr>
              <a:t>2,427</a:t>
            </a:r>
          </a:p>
        </p:txBody>
      </p:sp>
      <p:sp>
        <p:nvSpPr>
          <p:cNvPr id="30" name="TextBox 29"/>
          <p:cNvSpPr txBox="1"/>
          <p:nvPr/>
        </p:nvSpPr>
        <p:spPr>
          <a:xfrm>
            <a:off x="9098280" y="4370832"/>
            <a:ext cx="26974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Dramas, then 1,674 Comedies</a:t>
            </a:r>
          </a:p>
        </p:txBody>
      </p:sp>
      <p:cxnSp>
        <p:nvCxnSpPr>
          <p:cNvPr id="31" name="Connector 30"/>
          <p:cNvCxnSpPr/>
          <p:nvPr/>
        </p:nvCxnSpPr>
        <p:spPr>
          <a:xfrm>
            <a:off x="9098280" y="4937760"/>
            <a:ext cx="2697479"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098280" y="5029200"/>
            <a:ext cx="2697480" cy="731520"/>
          </a:xfrm>
          <a:prstGeom prst="rect">
            <a:avLst/>
          </a:prstGeom>
          <a:noFill/>
        </p:spPr>
        <p:txBody>
          <a:bodyPr wrap="square" lIns="0" rIns="0" tIns="0" bIns="0" anchor="t">
            <a:spAutoFit/>
          </a:bodyPr>
          <a:lstStyle/>
          <a:p>
            <a:pPr algn="l"/>
            <a:r>
              <a:rPr sz="4000" b="1" i="0">
                <a:solidFill>
                  <a:srgbClr val="B3261E"/>
                </a:solidFill>
                <a:latin typeface="Georgia"/>
              </a:rPr>
              <a:t>42</a:t>
            </a:r>
          </a:p>
        </p:txBody>
      </p:sp>
      <p:sp>
        <p:nvSpPr>
          <p:cNvPr id="33" name="TextBox 32"/>
          <p:cNvSpPr txBox="1"/>
          <p:nvPr/>
        </p:nvSpPr>
        <p:spPr>
          <a:xfrm>
            <a:off x="9098280" y="5742432"/>
            <a:ext cx="26974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distinct genre tags in total</a:t>
            </a:r>
          </a:p>
        </p:txBody>
      </p:sp>
      <p:sp>
        <p:nvSpPr>
          <p:cNvPr id="34" name="TextBox 33"/>
          <p:cNvSpPr txBox="1"/>
          <p:nvPr/>
        </p:nvSpPr>
        <p:spPr>
          <a:xfrm>
            <a:off x="868680" y="6446520"/>
            <a:ext cx="8229600" cy="228600"/>
          </a:xfrm>
          <a:prstGeom prst="rect">
            <a:avLst/>
          </a:prstGeom>
          <a:noFill/>
        </p:spPr>
        <p:txBody>
          <a:bodyPr wrap="square" lIns="0" rIns="0" tIns="0" bIns="0" anchor="t">
            <a:spAutoFit/>
          </a:bodyPr>
          <a:lstStyle/>
          <a:p>
            <a:pPr algn="l"/>
            <a:r>
              <a:rPr sz="900" b="0" i="0">
                <a:solidFill>
                  <a:srgbClr val="8C8173"/>
                </a:solidFill>
                <a:latin typeface="Courier New"/>
              </a:rPr>
              <a:t>Source: netflix_data.csv (8,807 titles, added to Sept 2021)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EBDC"/>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55448" y="2560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55448" y="6217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55448" y="9875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5448" y="13533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5448" y="17190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5448" y="20848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55448" y="245059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5448" y="281635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55448" y="318211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55448" y="354787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55448" y="39136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55448" y="42793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55448" y="46451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55448" y="50109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55448" y="53766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55448" y="57424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5448" y="61081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55448" y="64739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7200"/>
            <a:ext cx="7315200" cy="274320"/>
          </a:xfrm>
          <a:prstGeom prst="rect">
            <a:avLst/>
          </a:prstGeom>
          <a:noFill/>
        </p:spPr>
        <p:txBody>
          <a:bodyPr wrap="square" lIns="0" rIns="0" tIns="0" bIns="0" anchor="t">
            <a:spAutoFit/>
          </a:bodyPr>
          <a:lstStyle/>
          <a:p>
            <a:pPr algn="l"/>
            <a:r>
              <a:rPr sz="1200" b="1" i="0">
                <a:solidFill>
                  <a:srgbClr val="B3261E"/>
                </a:solidFill>
                <a:latin typeface="Courier New"/>
              </a:rPr>
              <a:t>06 / AUDIENCE</a:t>
            </a:r>
          </a:p>
        </p:txBody>
      </p:sp>
      <p:sp>
        <p:nvSpPr>
          <p:cNvPr id="22" name="TextBox 21"/>
          <p:cNvSpPr txBox="1"/>
          <p:nvPr/>
        </p:nvSpPr>
        <p:spPr>
          <a:xfrm>
            <a:off x="9509760" y="457200"/>
            <a:ext cx="2286000" cy="274320"/>
          </a:xfrm>
          <a:prstGeom prst="rect">
            <a:avLst/>
          </a:prstGeom>
          <a:noFill/>
        </p:spPr>
        <p:txBody>
          <a:bodyPr wrap="square" lIns="0" rIns="0" tIns="0" bIns="0" anchor="t">
            <a:spAutoFit/>
          </a:bodyPr>
          <a:lstStyle/>
          <a:p>
            <a:pPr algn="r"/>
            <a:r>
              <a:rPr sz="1100" b="0" i="0">
                <a:solidFill>
                  <a:srgbClr val="8C8173"/>
                </a:solidFill>
                <a:latin typeface="Courier New"/>
              </a:rPr>
              <a:t>REEL 10 / 15</a:t>
            </a:r>
          </a:p>
        </p:txBody>
      </p:sp>
      <p:sp>
        <p:nvSpPr>
          <p:cNvPr id="23" name="TextBox 22"/>
          <p:cNvSpPr txBox="1"/>
          <p:nvPr/>
        </p:nvSpPr>
        <p:spPr>
          <a:xfrm>
            <a:off x="868680" y="804672"/>
            <a:ext cx="10881360" cy="1188720"/>
          </a:xfrm>
          <a:prstGeom prst="rect">
            <a:avLst/>
          </a:prstGeom>
          <a:noFill/>
        </p:spPr>
        <p:txBody>
          <a:bodyPr wrap="square" lIns="0" rIns="0" tIns="0" bIns="0" anchor="t">
            <a:spAutoFit/>
          </a:bodyPr>
          <a:lstStyle/>
          <a:p>
            <a:pPr algn="l">
              <a:lnSpc>
                <a:spcPct val="95000"/>
              </a:lnSpc>
            </a:pPr>
            <a:r>
              <a:rPr sz="3000" b="1" i="0">
                <a:solidFill>
                  <a:srgbClr val="1C1814"/>
                </a:solidFill>
                <a:latin typeface="Georgia"/>
              </a:rPr>
              <a:t>Three out of four titles are aimed at teens and adults</a:t>
            </a:r>
          </a:p>
        </p:txBody>
      </p:sp>
      <p:pic>
        <p:nvPicPr>
          <p:cNvPr id="24" name="Picture 23" descr="07_ratings.png"/>
          <p:cNvPicPr>
            <a:picLocks noChangeAspect="1"/>
          </p:cNvPicPr>
          <p:nvPr/>
        </p:nvPicPr>
        <p:blipFill>
          <a:blip r:embed="rId2"/>
          <a:stretch>
            <a:fillRect/>
          </a:stretch>
        </p:blipFill>
        <p:spPr>
          <a:xfrm>
            <a:off x="868680" y="2103120"/>
            <a:ext cx="7543800" cy="3017520"/>
          </a:xfrm>
          <a:prstGeom prst="rect">
            <a:avLst/>
          </a:prstGeom>
        </p:spPr>
      </p:pic>
      <p:cxnSp>
        <p:nvCxnSpPr>
          <p:cNvPr id="25" name="Connector 24"/>
          <p:cNvCxnSpPr/>
          <p:nvPr/>
        </p:nvCxnSpPr>
        <p:spPr>
          <a:xfrm>
            <a:off x="868680" y="5166360"/>
            <a:ext cx="3383280"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68680" y="5257800"/>
            <a:ext cx="3383280" cy="731520"/>
          </a:xfrm>
          <a:prstGeom prst="rect">
            <a:avLst/>
          </a:prstGeom>
          <a:noFill/>
        </p:spPr>
        <p:txBody>
          <a:bodyPr wrap="square" lIns="0" rIns="0" tIns="0" bIns="0" anchor="t">
            <a:spAutoFit/>
          </a:bodyPr>
          <a:lstStyle/>
          <a:p>
            <a:pPr algn="l"/>
            <a:r>
              <a:rPr sz="4000" b="1" i="0">
                <a:solidFill>
                  <a:srgbClr val="B3261E"/>
                </a:solidFill>
                <a:latin typeface="Georgia"/>
              </a:rPr>
              <a:t>36%</a:t>
            </a:r>
          </a:p>
        </p:txBody>
      </p:sp>
      <p:sp>
        <p:nvSpPr>
          <p:cNvPr id="27" name="TextBox 26"/>
          <p:cNvSpPr txBox="1"/>
          <p:nvPr/>
        </p:nvSpPr>
        <p:spPr>
          <a:xfrm>
            <a:off x="868680" y="5971032"/>
            <a:ext cx="33832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of the catalogue is TV-MA, the single biggest rating</a:t>
            </a:r>
          </a:p>
        </p:txBody>
      </p:sp>
      <p:cxnSp>
        <p:nvCxnSpPr>
          <p:cNvPr id="28" name="Connector 27"/>
          <p:cNvCxnSpPr/>
          <p:nvPr/>
        </p:nvCxnSpPr>
        <p:spPr>
          <a:xfrm>
            <a:off x="4572000" y="5166360"/>
            <a:ext cx="3383279"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0" y="5257800"/>
            <a:ext cx="3383280" cy="731520"/>
          </a:xfrm>
          <a:prstGeom prst="rect">
            <a:avLst/>
          </a:prstGeom>
          <a:noFill/>
        </p:spPr>
        <p:txBody>
          <a:bodyPr wrap="square" lIns="0" rIns="0" tIns="0" bIns="0" anchor="t">
            <a:spAutoFit/>
          </a:bodyPr>
          <a:lstStyle/>
          <a:p>
            <a:pPr algn="l"/>
            <a:r>
              <a:rPr sz="4000" b="1" i="0">
                <a:solidFill>
                  <a:srgbClr val="D69E2E"/>
                </a:solidFill>
                <a:latin typeface="Georgia"/>
              </a:rPr>
              <a:t>76%</a:t>
            </a:r>
          </a:p>
        </p:txBody>
      </p:sp>
      <p:sp>
        <p:nvSpPr>
          <p:cNvPr id="30" name="TextBox 29"/>
          <p:cNvSpPr txBox="1"/>
          <p:nvPr/>
        </p:nvSpPr>
        <p:spPr>
          <a:xfrm>
            <a:off x="4572000" y="5971032"/>
            <a:ext cx="33832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is rated for teens or adults (TV-14, PG-13, TV-MA, R...)</a:t>
            </a:r>
          </a:p>
        </p:txBody>
      </p:sp>
      <p:cxnSp>
        <p:nvCxnSpPr>
          <p:cNvPr id="31" name="Connector 30"/>
          <p:cNvCxnSpPr/>
          <p:nvPr/>
        </p:nvCxnSpPr>
        <p:spPr>
          <a:xfrm>
            <a:off x="8275319" y="5166360"/>
            <a:ext cx="3383281"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275319" y="5257800"/>
            <a:ext cx="3383280" cy="731520"/>
          </a:xfrm>
          <a:prstGeom prst="rect">
            <a:avLst/>
          </a:prstGeom>
          <a:noFill/>
        </p:spPr>
        <p:txBody>
          <a:bodyPr wrap="square" lIns="0" rIns="0" tIns="0" bIns="0" anchor="t">
            <a:spAutoFit/>
          </a:bodyPr>
          <a:lstStyle/>
          <a:p>
            <a:pPr algn="l"/>
            <a:r>
              <a:rPr sz="4000" b="1" i="0">
                <a:solidFill>
                  <a:srgbClr val="B3261E"/>
                </a:solidFill>
                <a:latin typeface="Georgia"/>
              </a:rPr>
              <a:t>10%</a:t>
            </a:r>
          </a:p>
        </p:txBody>
      </p:sp>
      <p:sp>
        <p:nvSpPr>
          <p:cNvPr id="33" name="TextBox 32"/>
          <p:cNvSpPr txBox="1"/>
          <p:nvPr/>
        </p:nvSpPr>
        <p:spPr>
          <a:xfrm>
            <a:off x="8275319" y="5971032"/>
            <a:ext cx="33832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is for the youngest viewers (TV-Y, TV-Y7, TV-G, G)</a:t>
            </a:r>
          </a:p>
        </p:txBody>
      </p:sp>
      <p:sp>
        <p:nvSpPr>
          <p:cNvPr id="34" name="TextBox 33"/>
          <p:cNvSpPr txBox="1"/>
          <p:nvPr/>
        </p:nvSpPr>
        <p:spPr>
          <a:xfrm>
            <a:off x="868680" y="6446520"/>
            <a:ext cx="8229600" cy="228600"/>
          </a:xfrm>
          <a:prstGeom prst="rect">
            <a:avLst/>
          </a:prstGeom>
          <a:noFill/>
        </p:spPr>
        <p:txBody>
          <a:bodyPr wrap="square" lIns="0" rIns="0" tIns="0" bIns="0" anchor="t">
            <a:spAutoFit/>
          </a:bodyPr>
          <a:lstStyle/>
          <a:p>
            <a:pPr algn="l"/>
            <a:r>
              <a:rPr sz="900" b="0" i="0">
                <a:solidFill>
                  <a:srgbClr val="8C8173"/>
                </a:solidFill>
                <a:latin typeface="Courier New"/>
              </a:rPr>
              <a:t>Source: netflix_data.csv (8,807 titles, added to Sept 2021)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EBDC"/>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55448" y="2560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55448" y="6217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55448" y="9875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5448" y="13533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5448" y="17190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5448" y="20848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55448" y="245059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5448" y="281635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55448" y="318211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55448" y="354787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55448" y="39136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55448" y="42793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55448" y="46451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55448" y="50109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55448" y="53766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55448" y="57424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5448" y="61081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55448" y="64739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7200"/>
            <a:ext cx="7315200" cy="274320"/>
          </a:xfrm>
          <a:prstGeom prst="rect">
            <a:avLst/>
          </a:prstGeom>
          <a:noFill/>
        </p:spPr>
        <p:txBody>
          <a:bodyPr wrap="square" lIns="0" rIns="0" tIns="0" bIns="0" anchor="t">
            <a:spAutoFit/>
          </a:bodyPr>
          <a:lstStyle/>
          <a:p>
            <a:pPr algn="l"/>
            <a:r>
              <a:rPr sz="1200" b="1" i="0">
                <a:solidFill>
                  <a:srgbClr val="B3261E"/>
                </a:solidFill>
                <a:latin typeface="Courier New"/>
              </a:rPr>
              <a:t>07 / LENGTH</a:t>
            </a:r>
          </a:p>
        </p:txBody>
      </p:sp>
      <p:sp>
        <p:nvSpPr>
          <p:cNvPr id="22" name="TextBox 21"/>
          <p:cNvSpPr txBox="1"/>
          <p:nvPr/>
        </p:nvSpPr>
        <p:spPr>
          <a:xfrm>
            <a:off x="9509760" y="457200"/>
            <a:ext cx="2286000" cy="274320"/>
          </a:xfrm>
          <a:prstGeom prst="rect">
            <a:avLst/>
          </a:prstGeom>
          <a:noFill/>
        </p:spPr>
        <p:txBody>
          <a:bodyPr wrap="square" lIns="0" rIns="0" tIns="0" bIns="0" anchor="t">
            <a:spAutoFit/>
          </a:bodyPr>
          <a:lstStyle/>
          <a:p>
            <a:pPr algn="r"/>
            <a:r>
              <a:rPr sz="1100" b="0" i="0">
                <a:solidFill>
                  <a:srgbClr val="8C8173"/>
                </a:solidFill>
                <a:latin typeface="Courier New"/>
              </a:rPr>
              <a:t>REEL 11 / 15</a:t>
            </a:r>
          </a:p>
        </p:txBody>
      </p:sp>
      <p:sp>
        <p:nvSpPr>
          <p:cNvPr id="23" name="TextBox 22"/>
          <p:cNvSpPr txBox="1"/>
          <p:nvPr/>
        </p:nvSpPr>
        <p:spPr>
          <a:xfrm>
            <a:off x="868680" y="804672"/>
            <a:ext cx="10881360" cy="1188720"/>
          </a:xfrm>
          <a:prstGeom prst="rect">
            <a:avLst/>
          </a:prstGeom>
          <a:noFill/>
        </p:spPr>
        <p:txBody>
          <a:bodyPr wrap="square" lIns="0" rIns="0" tIns="0" bIns="0" anchor="t">
            <a:spAutoFit/>
          </a:bodyPr>
          <a:lstStyle/>
          <a:p>
            <a:pPr algn="l">
              <a:lnSpc>
                <a:spcPct val="95000"/>
              </a:lnSpc>
            </a:pPr>
            <a:r>
              <a:rPr sz="3000" b="1" i="0">
                <a:solidFill>
                  <a:srgbClr val="1C1814"/>
                </a:solidFill>
                <a:latin typeface="Georgia"/>
              </a:rPr>
              <a:t>Films run about 98 minutes, and most shows stop after one season</a:t>
            </a:r>
          </a:p>
        </p:txBody>
      </p:sp>
      <p:pic>
        <p:nvPicPr>
          <p:cNvPr id="24" name="Picture 23" descr="08_duration.png"/>
          <p:cNvPicPr>
            <a:picLocks noChangeAspect="1"/>
          </p:cNvPicPr>
          <p:nvPr/>
        </p:nvPicPr>
        <p:blipFill>
          <a:blip r:embed="rId2"/>
          <a:stretch>
            <a:fillRect/>
          </a:stretch>
        </p:blipFill>
        <p:spPr>
          <a:xfrm>
            <a:off x="868680" y="2103120"/>
            <a:ext cx="7903028" cy="3017519"/>
          </a:xfrm>
          <a:prstGeom prst="rect">
            <a:avLst/>
          </a:prstGeom>
        </p:spPr>
      </p:pic>
      <p:cxnSp>
        <p:nvCxnSpPr>
          <p:cNvPr id="25" name="Connector 24"/>
          <p:cNvCxnSpPr/>
          <p:nvPr/>
        </p:nvCxnSpPr>
        <p:spPr>
          <a:xfrm>
            <a:off x="868680" y="5166360"/>
            <a:ext cx="3383280"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68680" y="5257800"/>
            <a:ext cx="3383280" cy="731520"/>
          </a:xfrm>
          <a:prstGeom prst="rect">
            <a:avLst/>
          </a:prstGeom>
          <a:noFill/>
        </p:spPr>
        <p:txBody>
          <a:bodyPr wrap="square" lIns="0" rIns="0" tIns="0" bIns="0" anchor="t">
            <a:spAutoFit/>
          </a:bodyPr>
          <a:lstStyle/>
          <a:p>
            <a:pPr algn="l"/>
            <a:r>
              <a:rPr sz="4000" b="1" i="0">
                <a:solidFill>
                  <a:srgbClr val="B3261E"/>
                </a:solidFill>
                <a:latin typeface="Georgia"/>
              </a:rPr>
              <a:t>98 min</a:t>
            </a:r>
          </a:p>
        </p:txBody>
      </p:sp>
      <p:sp>
        <p:nvSpPr>
          <p:cNvPr id="27" name="TextBox 26"/>
          <p:cNvSpPr txBox="1"/>
          <p:nvPr/>
        </p:nvSpPr>
        <p:spPr>
          <a:xfrm>
            <a:off x="868680" y="5971032"/>
            <a:ext cx="33832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median movie length</a:t>
            </a:r>
          </a:p>
        </p:txBody>
      </p:sp>
      <p:cxnSp>
        <p:nvCxnSpPr>
          <p:cNvPr id="28" name="Connector 27"/>
          <p:cNvCxnSpPr/>
          <p:nvPr/>
        </p:nvCxnSpPr>
        <p:spPr>
          <a:xfrm>
            <a:off x="4572000" y="5166360"/>
            <a:ext cx="3383279"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0" y="5257800"/>
            <a:ext cx="3383280" cy="731520"/>
          </a:xfrm>
          <a:prstGeom prst="rect">
            <a:avLst/>
          </a:prstGeom>
          <a:noFill/>
        </p:spPr>
        <p:txBody>
          <a:bodyPr wrap="square" lIns="0" rIns="0" tIns="0" bIns="0" anchor="t">
            <a:spAutoFit/>
          </a:bodyPr>
          <a:lstStyle/>
          <a:p>
            <a:pPr algn="l"/>
            <a:r>
              <a:rPr sz="4000" b="1" i="0">
                <a:solidFill>
                  <a:srgbClr val="D69E2E"/>
                </a:solidFill>
                <a:latin typeface="Georgia"/>
              </a:rPr>
              <a:t>64%</a:t>
            </a:r>
          </a:p>
        </p:txBody>
      </p:sp>
      <p:sp>
        <p:nvSpPr>
          <p:cNvPr id="30" name="TextBox 29"/>
          <p:cNvSpPr txBox="1"/>
          <p:nvPr/>
        </p:nvSpPr>
        <p:spPr>
          <a:xfrm>
            <a:off x="4572000" y="5971032"/>
            <a:ext cx="33832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of movies run between 80 and 120 minutes</a:t>
            </a:r>
          </a:p>
        </p:txBody>
      </p:sp>
      <p:cxnSp>
        <p:nvCxnSpPr>
          <p:cNvPr id="31" name="Connector 30"/>
          <p:cNvCxnSpPr/>
          <p:nvPr/>
        </p:nvCxnSpPr>
        <p:spPr>
          <a:xfrm>
            <a:off x="8275319" y="5166360"/>
            <a:ext cx="3383281"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275319" y="5257800"/>
            <a:ext cx="3383280" cy="731520"/>
          </a:xfrm>
          <a:prstGeom prst="rect">
            <a:avLst/>
          </a:prstGeom>
          <a:noFill/>
        </p:spPr>
        <p:txBody>
          <a:bodyPr wrap="square" lIns="0" rIns="0" tIns="0" bIns="0" anchor="t">
            <a:spAutoFit/>
          </a:bodyPr>
          <a:lstStyle/>
          <a:p>
            <a:pPr algn="l"/>
            <a:r>
              <a:rPr sz="4000" b="1" i="0">
                <a:solidFill>
                  <a:srgbClr val="B3261E"/>
                </a:solidFill>
                <a:latin typeface="Georgia"/>
              </a:rPr>
              <a:t>67%</a:t>
            </a:r>
          </a:p>
        </p:txBody>
      </p:sp>
      <p:sp>
        <p:nvSpPr>
          <p:cNvPr id="33" name="TextBox 32"/>
          <p:cNvSpPr txBox="1"/>
          <p:nvPr/>
        </p:nvSpPr>
        <p:spPr>
          <a:xfrm>
            <a:off x="8275319" y="5971032"/>
            <a:ext cx="33832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of TV shows have a single season</a:t>
            </a:r>
          </a:p>
        </p:txBody>
      </p:sp>
      <p:sp>
        <p:nvSpPr>
          <p:cNvPr id="34" name="TextBox 33"/>
          <p:cNvSpPr txBox="1"/>
          <p:nvPr/>
        </p:nvSpPr>
        <p:spPr>
          <a:xfrm>
            <a:off x="868680" y="6446520"/>
            <a:ext cx="8229600" cy="228600"/>
          </a:xfrm>
          <a:prstGeom prst="rect">
            <a:avLst/>
          </a:prstGeom>
          <a:noFill/>
        </p:spPr>
        <p:txBody>
          <a:bodyPr wrap="square" lIns="0" rIns="0" tIns="0" bIns="0" anchor="t">
            <a:spAutoFit/>
          </a:bodyPr>
          <a:lstStyle/>
          <a:p>
            <a:pPr algn="l"/>
            <a:r>
              <a:rPr sz="900" b="0" i="0">
                <a:solidFill>
                  <a:srgbClr val="8C8173"/>
                </a:solidFill>
                <a:latin typeface="Courier New"/>
              </a:rPr>
              <a:t>Source: netflix_data.csv (8,807 titles, added to Sept 2021)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EBDC"/>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55448" y="2560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55448" y="6217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55448" y="9875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5448" y="13533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5448" y="17190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5448" y="20848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55448" y="245059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5448" y="281635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55448" y="318211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55448" y="354787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55448" y="39136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55448" y="42793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55448" y="46451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55448" y="50109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55448" y="53766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55448" y="57424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5448" y="61081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55448" y="64739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7200"/>
            <a:ext cx="7315200" cy="274320"/>
          </a:xfrm>
          <a:prstGeom prst="rect">
            <a:avLst/>
          </a:prstGeom>
          <a:noFill/>
        </p:spPr>
        <p:txBody>
          <a:bodyPr wrap="square" lIns="0" rIns="0" tIns="0" bIns="0" anchor="t">
            <a:spAutoFit/>
          </a:bodyPr>
          <a:lstStyle/>
          <a:p>
            <a:pPr algn="l"/>
            <a:r>
              <a:rPr sz="1200" b="1" i="0">
                <a:solidFill>
                  <a:srgbClr val="B3261E"/>
                </a:solidFill>
                <a:latin typeface="Courier New"/>
              </a:rPr>
              <a:t>08 / TIMING</a:t>
            </a:r>
          </a:p>
        </p:txBody>
      </p:sp>
      <p:sp>
        <p:nvSpPr>
          <p:cNvPr id="22" name="TextBox 21"/>
          <p:cNvSpPr txBox="1"/>
          <p:nvPr/>
        </p:nvSpPr>
        <p:spPr>
          <a:xfrm>
            <a:off x="9509760" y="457200"/>
            <a:ext cx="2286000" cy="274320"/>
          </a:xfrm>
          <a:prstGeom prst="rect">
            <a:avLst/>
          </a:prstGeom>
          <a:noFill/>
        </p:spPr>
        <p:txBody>
          <a:bodyPr wrap="square" lIns="0" rIns="0" tIns="0" bIns="0" anchor="t">
            <a:spAutoFit/>
          </a:bodyPr>
          <a:lstStyle/>
          <a:p>
            <a:pPr algn="r"/>
            <a:r>
              <a:rPr sz="1100" b="0" i="0">
                <a:solidFill>
                  <a:srgbClr val="8C8173"/>
                </a:solidFill>
                <a:latin typeface="Courier New"/>
              </a:rPr>
              <a:t>REEL 12 / 15</a:t>
            </a:r>
          </a:p>
        </p:txBody>
      </p:sp>
      <p:sp>
        <p:nvSpPr>
          <p:cNvPr id="23" name="TextBox 22"/>
          <p:cNvSpPr txBox="1"/>
          <p:nvPr/>
        </p:nvSpPr>
        <p:spPr>
          <a:xfrm>
            <a:off x="868680" y="804672"/>
            <a:ext cx="10881360" cy="1188720"/>
          </a:xfrm>
          <a:prstGeom prst="rect">
            <a:avLst/>
          </a:prstGeom>
          <a:noFill/>
        </p:spPr>
        <p:txBody>
          <a:bodyPr wrap="square" lIns="0" rIns="0" tIns="0" bIns="0" anchor="t">
            <a:spAutoFit/>
          </a:bodyPr>
          <a:lstStyle/>
          <a:p>
            <a:pPr algn="l">
              <a:lnSpc>
                <a:spcPct val="95000"/>
              </a:lnSpc>
            </a:pPr>
            <a:r>
              <a:rPr sz="3000" b="1" i="0">
                <a:solidFill>
                  <a:srgbClr val="1C1814"/>
                </a:solidFill>
                <a:latin typeface="Georgia"/>
              </a:rPr>
              <a:t>No release season: titles arrive all year round</a:t>
            </a:r>
          </a:p>
        </p:txBody>
      </p:sp>
      <p:pic>
        <p:nvPicPr>
          <p:cNvPr id="24" name="Picture 23" descr="09_monthly.png"/>
          <p:cNvPicPr>
            <a:picLocks noChangeAspect="1"/>
          </p:cNvPicPr>
          <p:nvPr/>
        </p:nvPicPr>
        <p:blipFill>
          <a:blip r:embed="rId2"/>
          <a:stretch>
            <a:fillRect/>
          </a:stretch>
        </p:blipFill>
        <p:spPr>
          <a:xfrm>
            <a:off x="868680" y="2103120"/>
            <a:ext cx="7863840" cy="2830982"/>
          </a:xfrm>
          <a:prstGeom prst="rect">
            <a:avLst/>
          </a:prstGeom>
        </p:spPr>
      </p:pic>
      <p:cxnSp>
        <p:nvCxnSpPr>
          <p:cNvPr id="25" name="Connector 24"/>
          <p:cNvCxnSpPr/>
          <p:nvPr/>
        </p:nvCxnSpPr>
        <p:spPr>
          <a:xfrm>
            <a:off x="9098280" y="2194560"/>
            <a:ext cx="2697479"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098280" y="2286000"/>
            <a:ext cx="2697480" cy="731520"/>
          </a:xfrm>
          <a:prstGeom prst="rect">
            <a:avLst/>
          </a:prstGeom>
          <a:noFill/>
        </p:spPr>
        <p:txBody>
          <a:bodyPr wrap="square" lIns="0" rIns="0" tIns="0" bIns="0" anchor="t">
            <a:spAutoFit/>
          </a:bodyPr>
          <a:lstStyle/>
          <a:p>
            <a:pPr algn="l"/>
            <a:r>
              <a:rPr sz="4000" b="1" i="0">
                <a:solidFill>
                  <a:srgbClr val="B3261E"/>
                </a:solidFill>
                <a:latin typeface="Georgia"/>
              </a:rPr>
              <a:t>255</a:t>
            </a:r>
          </a:p>
        </p:txBody>
      </p:sp>
      <p:sp>
        <p:nvSpPr>
          <p:cNvPr id="27" name="TextBox 26"/>
          <p:cNvSpPr txBox="1"/>
          <p:nvPr/>
        </p:nvSpPr>
        <p:spPr>
          <a:xfrm>
            <a:off x="9098280" y="2999232"/>
            <a:ext cx="26974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titles added in November 2019, the busiest month in the data</a:t>
            </a:r>
          </a:p>
        </p:txBody>
      </p:sp>
      <p:cxnSp>
        <p:nvCxnSpPr>
          <p:cNvPr id="28" name="Connector 27"/>
          <p:cNvCxnSpPr/>
          <p:nvPr/>
        </p:nvCxnSpPr>
        <p:spPr>
          <a:xfrm>
            <a:off x="9098280" y="3566160"/>
            <a:ext cx="2697479"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098280" y="3657600"/>
            <a:ext cx="2697480" cy="731520"/>
          </a:xfrm>
          <a:prstGeom prst="rect">
            <a:avLst/>
          </a:prstGeom>
          <a:noFill/>
        </p:spPr>
        <p:txBody>
          <a:bodyPr wrap="square" lIns="0" rIns="0" tIns="0" bIns="0" anchor="t">
            <a:spAutoFit/>
          </a:bodyPr>
          <a:lstStyle/>
          <a:p>
            <a:pPr algn="l"/>
            <a:r>
              <a:rPr sz="4000" b="1" i="0">
                <a:solidFill>
                  <a:srgbClr val="D69E2E"/>
                </a:solidFill>
                <a:latin typeface="Georgia"/>
              </a:rPr>
              <a:t>Jul, Dec</a:t>
            </a:r>
          </a:p>
        </p:txBody>
      </p:sp>
      <p:sp>
        <p:nvSpPr>
          <p:cNvPr id="30" name="TextBox 29"/>
          <p:cNvSpPr txBox="1"/>
          <p:nvPr/>
        </p:nvSpPr>
        <p:spPr>
          <a:xfrm>
            <a:off x="9098280" y="4370832"/>
            <a:ext cx="26974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the busiest calendar months overall</a:t>
            </a:r>
          </a:p>
        </p:txBody>
      </p:sp>
      <p:cxnSp>
        <p:nvCxnSpPr>
          <p:cNvPr id="31" name="Connector 30"/>
          <p:cNvCxnSpPr/>
          <p:nvPr/>
        </p:nvCxnSpPr>
        <p:spPr>
          <a:xfrm>
            <a:off x="9098280" y="4937760"/>
            <a:ext cx="2697479"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098280" y="5029200"/>
            <a:ext cx="2697480" cy="731520"/>
          </a:xfrm>
          <a:prstGeom prst="rect">
            <a:avLst/>
          </a:prstGeom>
          <a:noFill/>
        </p:spPr>
        <p:txBody>
          <a:bodyPr wrap="square" lIns="0" rIns="0" tIns="0" bIns="0" anchor="t">
            <a:spAutoFit/>
          </a:bodyPr>
          <a:lstStyle/>
          <a:p>
            <a:pPr algn="l"/>
            <a:r>
              <a:rPr sz="4000" b="1" i="0">
                <a:solidFill>
                  <a:srgbClr val="B3261E"/>
                </a:solidFill>
                <a:latin typeface="Georgia"/>
              </a:rPr>
              <a:t>Feb</a:t>
            </a:r>
          </a:p>
        </p:txBody>
      </p:sp>
      <p:sp>
        <p:nvSpPr>
          <p:cNvPr id="33" name="TextBox 32"/>
          <p:cNvSpPr txBox="1"/>
          <p:nvPr/>
        </p:nvSpPr>
        <p:spPr>
          <a:xfrm>
            <a:off x="9098280" y="5742432"/>
            <a:ext cx="26974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the quietest, with 563 titles across all years</a:t>
            </a:r>
          </a:p>
        </p:txBody>
      </p:sp>
      <p:sp>
        <p:nvSpPr>
          <p:cNvPr id="34" name="TextBox 33"/>
          <p:cNvSpPr txBox="1"/>
          <p:nvPr/>
        </p:nvSpPr>
        <p:spPr>
          <a:xfrm>
            <a:off x="868680" y="5212080"/>
            <a:ext cx="7863840" cy="914400"/>
          </a:xfrm>
          <a:prstGeom prst="rect">
            <a:avLst/>
          </a:prstGeom>
          <a:noFill/>
        </p:spPr>
        <p:txBody>
          <a:bodyPr wrap="square" lIns="0" rIns="0" tIns="0" bIns="0" anchor="t">
            <a:spAutoFit/>
          </a:bodyPr>
          <a:lstStyle/>
          <a:p>
            <a:pPr algn="l"/>
            <a:r>
              <a:rPr sz="1400" b="0" i="0">
                <a:solidFill>
                  <a:srgbClr val="1C1814"/>
                </a:solidFill>
                <a:latin typeface="Calibri"/>
              </a:rPr>
              <a:t>Darker cells mean more titles added. 2016 to 2020 shown, 2021 is incomplete. Apart from the 2019 autumn spike, months look broadly alike, which fits a steady always-on release pipeline.</a:t>
            </a:r>
          </a:p>
        </p:txBody>
      </p:sp>
      <p:sp>
        <p:nvSpPr>
          <p:cNvPr id="35" name="TextBox 34"/>
          <p:cNvSpPr txBox="1"/>
          <p:nvPr/>
        </p:nvSpPr>
        <p:spPr>
          <a:xfrm>
            <a:off x="868680" y="6446520"/>
            <a:ext cx="8229600" cy="228600"/>
          </a:xfrm>
          <a:prstGeom prst="rect">
            <a:avLst/>
          </a:prstGeom>
          <a:noFill/>
        </p:spPr>
        <p:txBody>
          <a:bodyPr wrap="square" lIns="0" rIns="0" tIns="0" bIns="0" anchor="t">
            <a:spAutoFit/>
          </a:bodyPr>
          <a:lstStyle/>
          <a:p>
            <a:pPr algn="l"/>
            <a:r>
              <a:rPr sz="900" b="0" i="0">
                <a:solidFill>
                  <a:srgbClr val="8C8173"/>
                </a:solidFill>
                <a:latin typeface="Courier New"/>
              </a:rPr>
              <a:t>Source: netflix_data.csv (8,807 titles, added to Sept 2021)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EBDC"/>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55448" y="2560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55448" y="6217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55448" y="9875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5448" y="13533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5448" y="17190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5448" y="20848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55448" y="245059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5448" y="281635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55448" y="318211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55448" y="354787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55448" y="39136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55448" y="42793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55448" y="46451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55448" y="50109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55448" y="53766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55448" y="57424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5448" y="61081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55448" y="64739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7200"/>
            <a:ext cx="7315200" cy="274320"/>
          </a:xfrm>
          <a:prstGeom prst="rect">
            <a:avLst/>
          </a:prstGeom>
          <a:noFill/>
        </p:spPr>
        <p:txBody>
          <a:bodyPr wrap="square" lIns="0" rIns="0" tIns="0" bIns="0" anchor="t">
            <a:spAutoFit/>
          </a:bodyPr>
          <a:lstStyle/>
          <a:p>
            <a:pPr algn="l"/>
            <a:r>
              <a:rPr sz="1200" b="1" i="0">
                <a:solidFill>
                  <a:srgbClr val="B3261E"/>
                </a:solidFill>
                <a:latin typeface="Courier New"/>
              </a:rPr>
              <a:t>09 / NAMES</a:t>
            </a:r>
          </a:p>
        </p:txBody>
      </p:sp>
      <p:sp>
        <p:nvSpPr>
          <p:cNvPr id="22" name="TextBox 21"/>
          <p:cNvSpPr txBox="1"/>
          <p:nvPr/>
        </p:nvSpPr>
        <p:spPr>
          <a:xfrm>
            <a:off x="9509760" y="457200"/>
            <a:ext cx="2286000" cy="274320"/>
          </a:xfrm>
          <a:prstGeom prst="rect">
            <a:avLst/>
          </a:prstGeom>
          <a:noFill/>
        </p:spPr>
        <p:txBody>
          <a:bodyPr wrap="square" lIns="0" rIns="0" tIns="0" bIns="0" anchor="t">
            <a:spAutoFit/>
          </a:bodyPr>
          <a:lstStyle/>
          <a:p>
            <a:pPr algn="r"/>
            <a:r>
              <a:rPr sz="1100" b="0" i="0">
                <a:solidFill>
                  <a:srgbClr val="8C8173"/>
                </a:solidFill>
                <a:latin typeface="Courier New"/>
              </a:rPr>
              <a:t>REEL 13 / 15</a:t>
            </a:r>
          </a:p>
        </p:txBody>
      </p:sp>
      <p:sp>
        <p:nvSpPr>
          <p:cNvPr id="23" name="TextBox 22"/>
          <p:cNvSpPr txBox="1"/>
          <p:nvPr/>
        </p:nvSpPr>
        <p:spPr>
          <a:xfrm>
            <a:off x="868680" y="804672"/>
            <a:ext cx="10881360" cy="1188720"/>
          </a:xfrm>
          <a:prstGeom prst="rect">
            <a:avLst/>
          </a:prstGeom>
          <a:noFill/>
        </p:spPr>
        <p:txBody>
          <a:bodyPr wrap="square" lIns="0" rIns="0" tIns="0" bIns="0" anchor="t">
            <a:spAutoFit/>
          </a:bodyPr>
          <a:lstStyle/>
          <a:p>
            <a:pPr algn="l">
              <a:lnSpc>
                <a:spcPct val="95000"/>
              </a:lnSpc>
            </a:pPr>
            <a:r>
              <a:rPr sz="3000" b="1" i="0">
                <a:solidFill>
                  <a:srgbClr val="1C1814"/>
                </a:solidFill>
                <a:latin typeface="Georgia"/>
              </a:rPr>
              <a:t>The people who keep coming back</a:t>
            </a:r>
          </a:p>
        </p:txBody>
      </p:sp>
      <p:pic>
        <p:nvPicPr>
          <p:cNvPr id="24" name="Picture 23" descr="10_people.png"/>
          <p:cNvPicPr>
            <a:picLocks noChangeAspect="1"/>
          </p:cNvPicPr>
          <p:nvPr/>
        </p:nvPicPr>
        <p:blipFill>
          <a:blip r:embed="rId2"/>
          <a:stretch>
            <a:fillRect/>
          </a:stretch>
        </p:blipFill>
        <p:spPr>
          <a:xfrm>
            <a:off x="868680" y="2103120"/>
            <a:ext cx="7863840" cy="3288514"/>
          </a:xfrm>
          <a:prstGeom prst="rect">
            <a:avLst/>
          </a:prstGeom>
        </p:spPr>
      </p:pic>
      <p:cxnSp>
        <p:nvCxnSpPr>
          <p:cNvPr id="25" name="Connector 24"/>
          <p:cNvCxnSpPr/>
          <p:nvPr/>
        </p:nvCxnSpPr>
        <p:spPr>
          <a:xfrm>
            <a:off x="9098280" y="2194560"/>
            <a:ext cx="2697479"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098280" y="2286000"/>
            <a:ext cx="2697480" cy="731520"/>
          </a:xfrm>
          <a:prstGeom prst="rect">
            <a:avLst/>
          </a:prstGeom>
          <a:noFill/>
        </p:spPr>
        <p:txBody>
          <a:bodyPr wrap="square" lIns="0" rIns="0" tIns="0" bIns="0" anchor="t">
            <a:spAutoFit/>
          </a:bodyPr>
          <a:lstStyle/>
          <a:p>
            <a:pPr algn="l"/>
            <a:r>
              <a:rPr sz="4000" b="1" i="0">
                <a:solidFill>
                  <a:srgbClr val="B3261E"/>
                </a:solidFill>
                <a:latin typeface="Georgia"/>
              </a:rPr>
              <a:t>43</a:t>
            </a:r>
          </a:p>
        </p:txBody>
      </p:sp>
      <p:sp>
        <p:nvSpPr>
          <p:cNvPr id="27" name="TextBox 26"/>
          <p:cNvSpPr txBox="1"/>
          <p:nvPr/>
        </p:nvSpPr>
        <p:spPr>
          <a:xfrm>
            <a:off x="9098280" y="2999232"/>
            <a:ext cx="26974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credits for Anupam Kher, the most frequent cast member</a:t>
            </a:r>
          </a:p>
        </p:txBody>
      </p:sp>
      <p:cxnSp>
        <p:nvCxnSpPr>
          <p:cNvPr id="28" name="Connector 27"/>
          <p:cNvCxnSpPr/>
          <p:nvPr/>
        </p:nvCxnSpPr>
        <p:spPr>
          <a:xfrm>
            <a:off x="9098280" y="3566160"/>
            <a:ext cx="2697479"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098280" y="3657600"/>
            <a:ext cx="2697480" cy="731520"/>
          </a:xfrm>
          <a:prstGeom prst="rect">
            <a:avLst/>
          </a:prstGeom>
          <a:noFill/>
        </p:spPr>
        <p:txBody>
          <a:bodyPr wrap="square" lIns="0" rIns="0" tIns="0" bIns="0" anchor="t">
            <a:spAutoFit/>
          </a:bodyPr>
          <a:lstStyle/>
          <a:p>
            <a:pPr algn="l"/>
            <a:r>
              <a:rPr sz="4000" b="1" i="0">
                <a:solidFill>
                  <a:srgbClr val="D69E2E"/>
                </a:solidFill>
                <a:latin typeface="Georgia"/>
              </a:rPr>
              <a:t>22</a:t>
            </a:r>
          </a:p>
        </p:txBody>
      </p:sp>
      <p:sp>
        <p:nvSpPr>
          <p:cNvPr id="30" name="TextBox 29"/>
          <p:cNvSpPr txBox="1"/>
          <p:nvPr/>
        </p:nvSpPr>
        <p:spPr>
          <a:xfrm>
            <a:off x="9098280" y="4370832"/>
            <a:ext cx="26974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titles for director Rajiv Chilaka (kids' animation)</a:t>
            </a:r>
          </a:p>
        </p:txBody>
      </p:sp>
      <p:cxnSp>
        <p:nvCxnSpPr>
          <p:cNvPr id="31" name="Connector 30"/>
          <p:cNvCxnSpPr/>
          <p:nvPr/>
        </p:nvCxnSpPr>
        <p:spPr>
          <a:xfrm>
            <a:off x="9098280" y="4937760"/>
            <a:ext cx="2697479" cy="0"/>
          </a:xfrm>
          <a:prstGeom prst="line">
            <a:avLst/>
          </a:prstGeom>
          <a:ln w="9525">
            <a:solidFill>
              <a:srgbClr val="8C817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098280" y="5029200"/>
            <a:ext cx="2697480" cy="731520"/>
          </a:xfrm>
          <a:prstGeom prst="rect">
            <a:avLst/>
          </a:prstGeom>
          <a:noFill/>
        </p:spPr>
        <p:txBody>
          <a:bodyPr wrap="square" lIns="0" rIns="0" tIns="0" bIns="0" anchor="t">
            <a:spAutoFit/>
          </a:bodyPr>
          <a:lstStyle/>
          <a:p>
            <a:pPr algn="l"/>
            <a:r>
              <a:rPr sz="4000" b="1" i="0">
                <a:solidFill>
                  <a:srgbClr val="B3261E"/>
                </a:solidFill>
                <a:latin typeface="Georgia"/>
              </a:rPr>
              <a:t>30%</a:t>
            </a:r>
          </a:p>
        </p:txBody>
      </p:sp>
      <p:sp>
        <p:nvSpPr>
          <p:cNvPr id="33" name="TextBox 32"/>
          <p:cNvSpPr txBox="1"/>
          <p:nvPr/>
        </p:nvSpPr>
        <p:spPr>
          <a:xfrm>
            <a:off x="9098280" y="5742432"/>
            <a:ext cx="2697480" cy="640080"/>
          </a:xfrm>
          <a:prstGeom prst="rect">
            <a:avLst/>
          </a:prstGeom>
          <a:noFill/>
        </p:spPr>
        <p:txBody>
          <a:bodyPr wrap="square" lIns="0" rIns="0" tIns="0" bIns="0" anchor="t">
            <a:spAutoFit/>
          </a:bodyPr>
          <a:lstStyle/>
          <a:p>
            <a:pPr algn="l">
              <a:lnSpc>
                <a:spcPct val="100000"/>
              </a:lnSpc>
            </a:pPr>
            <a:r>
              <a:rPr sz="1300" b="0" i="0">
                <a:solidFill>
                  <a:srgbClr val="1C1814"/>
                </a:solidFill>
                <a:latin typeface="Calibri"/>
              </a:rPr>
              <a:t>of titles have no director listed, so treat the ranking as a floor</a:t>
            </a:r>
          </a:p>
        </p:txBody>
      </p:sp>
      <p:sp>
        <p:nvSpPr>
          <p:cNvPr id="34" name="TextBox 33"/>
          <p:cNvSpPr txBox="1"/>
          <p:nvPr/>
        </p:nvSpPr>
        <p:spPr>
          <a:xfrm>
            <a:off x="868680" y="6446520"/>
            <a:ext cx="8229600" cy="228600"/>
          </a:xfrm>
          <a:prstGeom prst="rect">
            <a:avLst/>
          </a:prstGeom>
          <a:noFill/>
        </p:spPr>
        <p:txBody>
          <a:bodyPr wrap="square" lIns="0" rIns="0" tIns="0" bIns="0" anchor="t">
            <a:spAutoFit/>
          </a:bodyPr>
          <a:lstStyle/>
          <a:p>
            <a:pPr algn="l"/>
            <a:r>
              <a:rPr sz="900" b="0" i="0">
                <a:solidFill>
                  <a:srgbClr val="8C8173"/>
                </a:solidFill>
                <a:latin typeface="Courier New"/>
              </a:rPr>
              <a:t>Source: netflix_data.csv (8,807 titles, added to Sept 2021)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C1814"/>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55448" y="25603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55448" y="62179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55448" y="98755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5448" y="135331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5448" y="171907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5448" y="2084831"/>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55448" y="2450591"/>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5448" y="2816351"/>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55448" y="3182111"/>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55448" y="3547871"/>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55448" y="3913631"/>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55448" y="427939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55448" y="464515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55448" y="501091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55448" y="537667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55448" y="574243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5448" y="610819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55448" y="6473952"/>
            <a:ext cx="192024" cy="137160"/>
          </a:xfrm>
          <a:prstGeom prst="round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7200"/>
            <a:ext cx="7315200" cy="274320"/>
          </a:xfrm>
          <a:prstGeom prst="rect">
            <a:avLst/>
          </a:prstGeom>
          <a:noFill/>
        </p:spPr>
        <p:txBody>
          <a:bodyPr wrap="square" lIns="0" rIns="0" tIns="0" bIns="0" anchor="t">
            <a:spAutoFit/>
          </a:bodyPr>
          <a:lstStyle/>
          <a:p>
            <a:pPr algn="l"/>
            <a:r>
              <a:rPr sz="1200" b="1" i="0">
                <a:solidFill>
                  <a:srgbClr val="D69E2E"/>
                </a:solidFill>
                <a:latin typeface="Courier New"/>
              </a:rPr>
              <a:t>THE SHORT VERSION</a:t>
            </a:r>
          </a:p>
        </p:txBody>
      </p:sp>
      <p:sp>
        <p:nvSpPr>
          <p:cNvPr id="22" name="TextBox 21"/>
          <p:cNvSpPr txBox="1"/>
          <p:nvPr/>
        </p:nvSpPr>
        <p:spPr>
          <a:xfrm>
            <a:off x="9509760" y="457200"/>
            <a:ext cx="2286000" cy="274320"/>
          </a:xfrm>
          <a:prstGeom prst="rect">
            <a:avLst/>
          </a:prstGeom>
          <a:noFill/>
        </p:spPr>
        <p:txBody>
          <a:bodyPr wrap="square" lIns="0" rIns="0" tIns="0" bIns="0" anchor="t">
            <a:spAutoFit/>
          </a:bodyPr>
          <a:lstStyle/>
          <a:p>
            <a:pPr algn="r"/>
            <a:r>
              <a:rPr sz="1100" b="0" i="0">
                <a:solidFill>
                  <a:srgbClr val="8C8173"/>
                </a:solidFill>
                <a:latin typeface="Courier New"/>
              </a:rPr>
              <a:t>REEL 14 / 15</a:t>
            </a:r>
          </a:p>
        </p:txBody>
      </p:sp>
      <p:sp>
        <p:nvSpPr>
          <p:cNvPr id="23" name="TextBox 22"/>
          <p:cNvSpPr txBox="1"/>
          <p:nvPr/>
        </p:nvSpPr>
        <p:spPr>
          <a:xfrm>
            <a:off x="868680" y="804672"/>
            <a:ext cx="10881360" cy="1188720"/>
          </a:xfrm>
          <a:prstGeom prst="rect">
            <a:avLst/>
          </a:prstGeom>
          <a:noFill/>
        </p:spPr>
        <p:txBody>
          <a:bodyPr wrap="square" lIns="0" rIns="0" tIns="0" bIns="0" anchor="t">
            <a:spAutoFit/>
          </a:bodyPr>
          <a:lstStyle/>
          <a:p>
            <a:pPr algn="l">
              <a:lnSpc>
                <a:spcPct val="95000"/>
              </a:lnSpc>
            </a:pPr>
            <a:r>
              <a:rPr sz="3000" b="1" i="0">
                <a:solidFill>
                  <a:srgbClr val="F3EBDC"/>
                </a:solidFill>
                <a:latin typeface="Georgia"/>
              </a:rPr>
              <a:t>What the catalogue says</a:t>
            </a:r>
          </a:p>
        </p:txBody>
      </p:sp>
      <p:sp>
        <p:nvSpPr>
          <p:cNvPr id="24" name="TextBox 23"/>
          <p:cNvSpPr txBox="1"/>
          <p:nvPr/>
        </p:nvSpPr>
        <p:spPr>
          <a:xfrm>
            <a:off x="868680" y="2057400"/>
            <a:ext cx="731520" cy="731520"/>
          </a:xfrm>
          <a:prstGeom prst="rect">
            <a:avLst/>
          </a:prstGeom>
          <a:noFill/>
        </p:spPr>
        <p:txBody>
          <a:bodyPr wrap="square" lIns="0" rIns="0" tIns="0" bIns="0" anchor="t">
            <a:spAutoFit/>
          </a:bodyPr>
          <a:lstStyle/>
          <a:p>
            <a:pPr algn="l"/>
            <a:r>
              <a:rPr sz="4000" b="1" i="0">
                <a:solidFill>
                  <a:srgbClr val="B3261E"/>
                </a:solidFill>
                <a:latin typeface="Georgia"/>
              </a:rPr>
              <a:t>1</a:t>
            </a:r>
          </a:p>
        </p:txBody>
      </p:sp>
      <p:sp>
        <p:nvSpPr>
          <p:cNvPr id="25" name="TextBox 24"/>
          <p:cNvSpPr txBox="1"/>
          <p:nvPr/>
        </p:nvSpPr>
        <p:spPr>
          <a:xfrm>
            <a:off x="1554480" y="2075688"/>
            <a:ext cx="4663440" cy="365760"/>
          </a:xfrm>
          <a:prstGeom prst="rect">
            <a:avLst/>
          </a:prstGeom>
          <a:noFill/>
        </p:spPr>
        <p:txBody>
          <a:bodyPr wrap="square" lIns="0" rIns="0" tIns="0" bIns="0" anchor="t">
            <a:spAutoFit/>
          </a:bodyPr>
          <a:lstStyle/>
          <a:p>
            <a:pPr algn="l"/>
            <a:r>
              <a:rPr sz="2000" b="1" i="0">
                <a:solidFill>
                  <a:srgbClr val="F3EBDC"/>
                </a:solidFill>
                <a:latin typeface="Georgia"/>
              </a:rPr>
              <a:t>Movie-heavy</a:t>
            </a:r>
          </a:p>
        </p:txBody>
      </p:sp>
      <p:sp>
        <p:nvSpPr>
          <p:cNvPr id="26" name="TextBox 25"/>
          <p:cNvSpPr txBox="1"/>
          <p:nvPr/>
        </p:nvSpPr>
        <p:spPr>
          <a:xfrm>
            <a:off x="1554480" y="2468880"/>
            <a:ext cx="4663440" cy="457200"/>
          </a:xfrm>
          <a:prstGeom prst="rect">
            <a:avLst/>
          </a:prstGeom>
          <a:noFill/>
        </p:spPr>
        <p:txBody>
          <a:bodyPr wrap="square" lIns="0" rIns="0" tIns="0" bIns="0" anchor="t">
            <a:spAutoFit/>
          </a:bodyPr>
          <a:lstStyle/>
          <a:p>
            <a:pPr algn="l"/>
            <a:r>
              <a:rPr sz="1400" b="0" i="0">
                <a:solidFill>
                  <a:srgbClr val="E6DBC5"/>
                </a:solidFill>
                <a:latin typeface="Calibri"/>
              </a:rPr>
              <a:t>70% movies, 30% shows.</a:t>
            </a:r>
          </a:p>
        </p:txBody>
      </p:sp>
      <p:sp>
        <p:nvSpPr>
          <p:cNvPr id="27" name="TextBox 26"/>
          <p:cNvSpPr txBox="1"/>
          <p:nvPr/>
        </p:nvSpPr>
        <p:spPr>
          <a:xfrm>
            <a:off x="868680" y="3081528"/>
            <a:ext cx="731520" cy="731520"/>
          </a:xfrm>
          <a:prstGeom prst="rect">
            <a:avLst/>
          </a:prstGeom>
          <a:noFill/>
        </p:spPr>
        <p:txBody>
          <a:bodyPr wrap="square" lIns="0" rIns="0" tIns="0" bIns="0" anchor="t">
            <a:spAutoFit/>
          </a:bodyPr>
          <a:lstStyle/>
          <a:p>
            <a:pPr algn="l"/>
            <a:r>
              <a:rPr sz="4000" b="1" i="0">
                <a:solidFill>
                  <a:srgbClr val="B3261E"/>
                </a:solidFill>
                <a:latin typeface="Georgia"/>
              </a:rPr>
              <a:t>2</a:t>
            </a:r>
          </a:p>
        </p:txBody>
      </p:sp>
      <p:sp>
        <p:nvSpPr>
          <p:cNvPr id="28" name="TextBox 27"/>
          <p:cNvSpPr txBox="1"/>
          <p:nvPr/>
        </p:nvSpPr>
        <p:spPr>
          <a:xfrm>
            <a:off x="1554480" y="3099816"/>
            <a:ext cx="4663440" cy="365760"/>
          </a:xfrm>
          <a:prstGeom prst="rect">
            <a:avLst/>
          </a:prstGeom>
          <a:noFill/>
        </p:spPr>
        <p:txBody>
          <a:bodyPr wrap="square" lIns="0" rIns="0" tIns="0" bIns="0" anchor="t">
            <a:spAutoFit/>
          </a:bodyPr>
          <a:lstStyle/>
          <a:p>
            <a:pPr algn="l"/>
            <a:r>
              <a:rPr sz="2000" b="1" i="0">
                <a:solidFill>
                  <a:srgbClr val="F3EBDC"/>
                </a:solidFill>
                <a:latin typeface="Georgia"/>
              </a:rPr>
              <a:t>Fast build-up</a:t>
            </a:r>
          </a:p>
        </p:txBody>
      </p:sp>
      <p:sp>
        <p:nvSpPr>
          <p:cNvPr id="29" name="TextBox 28"/>
          <p:cNvSpPr txBox="1"/>
          <p:nvPr/>
        </p:nvSpPr>
        <p:spPr>
          <a:xfrm>
            <a:off x="1554480" y="3493008"/>
            <a:ext cx="4663440" cy="457200"/>
          </a:xfrm>
          <a:prstGeom prst="rect">
            <a:avLst/>
          </a:prstGeom>
          <a:noFill/>
        </p:spPr>
        <p:txBody>
          <a:bodyPr wrap="square" lIns="0" rIns="0" tIns="0" bIns="0" anchor="t">
            <a:spAutoFit/>
          </a:bodyPr>
          <a:lstStyle/>
          <a:p>
            <a:pPr algn="l"/>
            <a:r>
              <a:rPr sz="1400" b="0" i="0">
                <a:solidFill>
                  <a:srgbClr val="E6DBC5"/>
                </a:solidFill>
                <a:latin typeface="Calibri"/>
              </a:rPr>
              <a:t>82 titles in 2015, 2,016 in 2019.</a:t>
            </a:r>
          </a:p>
        </p:txBody>
      </p:sp>
      <p:sp>
        <p:nvSpPr>
          <p:cNvPr id="30" name="TextBox 29"/>
          <p:cNvSpPr txBox="1"/>
          <p:nvPr/>
        </p:nvSpPr>
        <p:spPr>
          <a:xfrm>
            <a:off x="868680" y="4105656"/>
            <a:ext cx="731520" cy="731520"/>
          </a:xfrm>
          <a:prstGeom prst="rect">
            <a:avLst/>
          </a:prstGeom>
          <a:noFill/>
        </p:spPr>
        <p:txBody>
          <a:bodyPr wrap="square" lIns="0" rIns="0" tIns="0" bIns="0" anchor="t">
            <a:spAutoFit/>
          </a:bodyPr>
          <a:lstStyle/>
          <a:p>
            <a:pPr algn="l"/>
            <a:r>
              <a:rPr sz="4000" b="1" i="0">
                <a:solidFill>
                  <a:srgbClr val="B3261E"/>
                </a:solidFill>
                <a:latin typeface="Georgia"/>
              </a:rPr>
              <a:t>3</a:t>
            </a:r>
          </a:p>
        </p:txBody>
      </p:sp>
      <p:sp>
        <p:nvSpPr>
          <p:cNvPr id="31" name="TextBox 30"/>
          <p:cNvSpPr txBox="1"/>
          <p:nvPr/>
        </p:nvSpPr>
        <p:spPr>
          <a:xfrm>
            <a:off x="1554480" y="4123944"/>
            <a:ext cx="4663440" cy="365760"/>
          </a:xfrm>
          <a:prstGeom prst="rect">
            <a:avLst/>
          </a:prstGeom>
          <a:noFill/>
        </p:spPr>
        <p:txBody>
          <a:bodyPr wrap="square" lIns="0" rIns="0" tIns="0" bIns="0" anchor="t">
            <a:spAutoFit/>
          </a:bodyPr>
          <a:lstStyle/>
          <a:p>
            <a:pPr algn="l"/>
            <a:r>
              <a:rPr sz="2000" b="1" i="0">
                <a:solidFill>
                  <a:srgbClr val="F3EBDC"/>
                </a:solidFill>
                <a:latin typeface="Georgia"/>
              </a:rPr>
              <a:t>Young</a:t>
            </a:r>
          </a:p>
        </p:txBody>
      </p:sp>
      <p:sp>
        <p:nvSpPr>
          <p:cNvPr id="32" name="TextBox 31"/>
          <p:cNvSpPr txBox="1"/>
          <p:nvPr/>
        </p:nvSpPr>
        <p:spPr>
          <a:xfrm>
            <a:off x="1554480" y="4517136"/>
            <a:ext cx="4663440" cy="457200"/>
          </a:xfrm>
          <a:prstGeom prst="rect">
            <a:avLst/>
          </a:prstGeom>
          <a:noFill/>
        </p:spPr>
        <p:txBody>
          <a:bodyPr wrap="square" lIns="0" rIns="0" tIns="0" bIns="0" anchor="t">
            <a:spAutoFit/>
          </a:bodyPr>
          <a:lstStyle/>
          <a:p>
            <a:pPr algn="l"/>
            <a:r>
              <a:rPr sz="1400" b="0" i="0">
                <a:solidFill>
                  <a:srgbClr val="E6DBC5"/>
                </a:solidFill>
                <a:latin typeface="Calibri"/>
              </a:rPr>
              <a:t>Median title arrives one year after release.</a:t>
            </a:r>
          </a:p>
        </p:txBody>
      </p:sp>
      <p:sp>
        <p:nvSpPr>
          <p:cNvPr id="33" name="TextBox 32"/>
          <p:cNvSpPr txBox="1"/>
          <p:nvPr/>
        </p:nvSpPr>
        <p:spPr>
          <a:xfrm>
            <a:off x="868680" y="5129784"/>
            <a:ext cx="731520" cy="731520"/>
          </a:xfrm>
          <a:prstGeom prst="rect">
            <a:avLst/>
          </a:prstGeom>
          <a:noFill/>
        </p:spPr>
        <p:txBody>
          <a:bodyPr wrap="square" lIns="0" rIns="0" tIns="0" bIns="0" anchor="t">
            <a:spAutoFit/>
          </a:bodyPr>
          <a:lstStyle/>
          <a:p>
            <a:pPr algn="l"/>
            <a:r>
              <a:rPr sz="4000" b="1" i="0">
                <a:solidFill>
                  <a:srgbClr val="B3261E"/>
                </a:solidFill>
                <a:latin typeface="Georgia"/>
              </a:rPr>
              <a:t>4</a:t>
            </a:r>
          </a:p>
        </p:txBody>
      </p:sp>
      <p:sp>
        <p:nvSpPr>
          <p:cNvPr id="34" name="TextBox 33"/>
          <p:cNvSpPr txBox="1"/>
          <p:nvPr/>
        </p:nvSpPr>
        <p:spPr>
          <a:xfrm>
            <a:off x="1554480" y="5148072"/>
            <a:ext cx="4663440" cy="365760"/>
          </a:xfrm>
          <a:prstGeom prst="rect">
            <a:avLst/>
          </a:prstGeom>
          <a:noFill/>
        </p:spPr>
        <p:txBody>
          <a:bodyPr wrap="square" lIns="0" rIns="0" tIns="0" bIns="0" anchor="t">
            <a:spAutoFit/>
          </a:bodyPr>
          <a:lstStyle/>
          <a:p>
            <a:pPr algn="l"/>
            <a:r>
              <a:rPr sz="2000" b="1" i="0">
                <a:solidFill>
                  <a:srgbClr val="F3EBDC"/>
                </a:solidFill>
                <a:latin typeface="Georgia"/>
              </a:rPr>
              <a:t>Global</a:t>
            </a:r>
          </a:p>
        </p:txBody>
      </p:sp>
      <p:sp>
        <p:nvSpPr>
          <p:cNvPr id="35" name="TextBox 34"/>
          <p:cNvSpPr txBox="1"/>
          <p:nvPr/>
        </p:nvSpPr>
        <p:spPr>
          <a:xfrm>
            <a:off x="1554480" y="5541264"/>
            <a:ext cx="4663440" cy="457200"/>
          </a:xfrm>
          <a:prstGeom prst="rect">
            <a:avLst/>
          </a:prstGeom>
          <a:noFill/>
        </p:spPr>
        <p:txBody>
          <a:bodyPr wrap="square" lIns="0" rIns="0" tIns="0" bIns="0" anchor="t">
            <a:spAutoFit/>
          </a:bodyPr>
          <a:lstStyle/>
          <a:p>
            <a:pPr algn="l"/>
            <a:r>
              <a:rPr sz="1400" b="0" i="0">
                <a:solidFill>
                  <a:srgbClr val="E6DBC5"/>
                </a:solidFill>
                <a:latin typeface="Calibri"/>
              </a:rPr>
              <a:t>US first, India second, Korea and Japan lean TV.</a:t>
            </a:r>
          </a:p>
        </p:txBody>
      </p:sp>
      <p:sp>
        <p:nvSpPr>
          <p:cNvPr id="36" name="TextBox 35"/>
          <p:cNvSpPr txBox="1"/>
          <p:nvPr/>
        </p:nvSpPr>
        <p:spPr>
          <a:xfrm>
            <a:off x="6446520" y="2057400"/>
            <a:ext cx="731520" cy="731520"/>
          </a:xfrm>
          <a:prstGeom prst="rect">
            <a:avLst/>
          </a:prstGeom>
          <a:noFill/>
        </p:spPr>
        <p:txBody>
          <a:bodyPr wrap="square" lIns="0" rIns="0" tIns="0" bIns="0" anchor="t">
            <a:spAutoFit/>
          </a:bodyPr>
          <a:lstStyle/>
          <a:p>
            <a:pPr algn="l"/>
            <a:r>
              <a:rPr sz="4000" b="1" i="0">
                <a:solidFill>
                  <a:srgbClr val="B3261E"/>
                </a:solidFill>
                <a:latin typeface="Georgia"/>
              </a:rPr>
              <a:t>5</a:t>
            </a:r>
          </a:p>
        </p:txBody>
      </p:sp>
      <p:sp>
        <p:nvSpPr>
          <p:cNvPr id="37" name="TextBox 36"/>
          <p:cNvSpPr txBox="1"/>
          <p:nvPr/>
        </p:nvSpPr>
        <p:spPr>
          <a:xfrm>
            <a:off x="7132320" y="2075688"/>
            <a:ext cx="4663440" cy="365760"/>
          </a:xfrm>
          <a:prstGeom prst="rect">
            <a:avLst/>
          </a:prstGeom>
          <a:noFill/>
        </p:spPr>
        <p:txBody>
          <a:bodyPr wrap="square" lIns="0" rIns="0" tIns="0" bIns="0" anchor="t">
            <a:spAutoFit/>
          </a:bodyPr>
          <a:lstStyle/>
          <a:p>
            <a:pPr algn="l"/>
            <a:r>
              <a:rPr sz="2000" b="1" i="0">
                <a:solidFill>
                  <a:srgbClr val="F3EBDC"/>
                </a:solidFill>
                <a:latin typeface="Georgia"/>
              </a:rPr>
              <a:t>Grown-up</a:t>
            </a:r>
          </a:p>
        </p:txBody>
      </p:sp>
      <p:sp>
        <p:nvSpPr>
          <p:cNvPr id="38" name="TextBox 37"/>
          <p:cNvSpPr txBox="1"/>
          <p:nvPr/>
        </p:nvSpPr>
        <p:spPr>
          <a:xfrm>
            <a:off x="7132320" y="2468880"/>
            <a:ext cx="4663440" cy="457200"/>
          </a:xfrm>
          <a:prstGeom prst="rect">
            <a:avLst/>
          </a:prstGeom>
          <a:noFill/>
        </p:spPr>
        <p:txBody>
          <a:bodyPr wrap="square" lIns="0" rIns="0" tIns="0" bIns="0" anchor="t">
            <a:spAutoFit/>
          </a:bodyPr>
          <a:lstStyle/>
          <a:p>
            <a:pPr algn="l"/>
            <a:r>
              <a:rPr sz="1400" b="0" i="0">
                <a:solidFill>
                  <a:srgbClr val="E6DBC5"/>
                </a:solidFill>
                <a:latin typeface="Calibri"/>
              </a:rPr>
              <a:t>76% teens and adults; TV-MA is #1.</a:t>
            </a:r>
          </a:p>
        </p:txBody>
      </p:sp>
      <p:sp>
        <p:nvSpPr>
          <p:cNvPr id="39" name="TextBox 38"/>
          <p:cNvSpPr txBox="1"/>
          <p:nvPr/>
        </p:nvSpPr>
        <p:spPr>
          <a:xfrm>
            <a:off x="6446520" y="3081528"/>
            <a:ext cx="731520" cy="731520"/>
          </a:xfrm>
          <a:prstGeom prst="rect">
            <a:avLst/>
          </a:prstGeom>
          <a:noFill/>
        </p:spPr>
        <p:txBody>
          <a:bodyPr wrap="square" lIns="0" rIns="0" tIns="0" bIns="0" anchor="t">
            <a:spAutoFit/>
          </a:bodyPr>
          <a:lstStyle/>
          <a:p>
            <a:pPr algn="l"/>
            <a:r>
              <a:rPr sz="4000" b="1" i="0">
                <a:solidFill>
                  <a:srgbClr val="B3261E"/>
                </a:solidFill>
                <a:latin typeface="Georgia"/>
              </a:rPr>
              <a:t>6</a:t>
            </a:r>
          </a:p>
        </p:txBody>
      </p:sp>
      <p:sp>
        <p:nvSpPr>
          <p:cNvPr id="40" name="TextBox 39"/>
          <p:cNvSpPr txBox="1"/>
          <p:nvPr/>
        </p:nvSpPr>
        <p:spPr>
          <a:xfrm>
            <a:off x="7132320" y="3099816"/>
            <a:ext cx="4663440" cy="365760"/>
          </a:xfrm>
          <a:prstGeom prst="rect">
            <a:avLst/>
          </a:prstGeom>
          <a:noFill/>
        </p:spPr>
        <p:txBody>
          <a:bodyPr wrap="square" lIns="0" rIns="0" tIns="0" bIns="0" anchor="t">
            <a:spAutoFit/>
          </a:bodyPr>
          <a:lstStyle/>
          <a:p>
            <a:pPr algn="l"/>
            <a:r>
              <a:rPr sz="2000" b="1" i="0">
                <a:solidFill>
                  <a:srgbClr val="F3EBDC"/>
                </a:solidFill>
                <a:latin typeface="Georgia"/>
              </a:rPr>
              <a:t>Wide, not deep</a:t>
            </a:r>
          </a:p>
        </p:txBody>
      </p:sp>
      <p:sp>
        <p:nvSpPr>
          <p:cNvPr id="41" name="TextBox 40"/>
          <p:cNvSpPr txBox="1"/>
          <p:nvPr/>
        </p:nvSpPr>
        <p:spPr>
          <a:xfrm>
            <a:off x="7132320" y="3493008"/>
            <a:ext cx="4663440" cy="457200"/>
          </a:xfrm>
          <a:prstGeom prst="rect">
            <a:avLst/>
          </a:prstGeom>
          <a:noFill/>
        </p:spPr>
        <p:txBody>
          <a:bodyPr wrap="square" lIns="0" rIns="0" tIns="0" bIns="0" anchor="t">
            <a:spAutoFit/>
          </a:bodyPr>
          <a:lstStyle/>
          <a:p>
            <a:pPr algn="l"/>
            <a:r>
              <a:rPr sz="1400" b="0" i="0">
                <a:solidFill>
                  <a:srgbClr val="E6DBC5"/>
                </a:solidFill>
                <a:latin typeface="Calibri"/>
              </a:rPr>
              <a:t>98-minute films; 67% of shows have one season.</a:t>
            </a:r>
          </a:p>
        </p:txBody>
      </p:sp>
      <p:sp>
        <p:nvSpPr>
          <p:cNvPr id="42" name="TextBox 41"/>
          <p:cNvSpPr txBox="1"/>
          <p:nvPr/>
        </p:nvSpPr>
        <p:spPr>
          <a:xfrm>
            <a:off x="6446520" y="4105656"/>
            <a:ext cx="731520" cy="731520"/>
          </a:xfrm>
          <a:prstGeom prst="rect">
            <a:avLst/>
          </a:prstGeom>
          <a:noFill/>
        </p:spPr>
        <p:txBody>
          <a:bodyPr wrap="square" lIns="0" rIns="0" tIns="0" bIns="0" anchor="t">
            <a:spAutoFit/>
          </a:bodyPr>
          <a:lstStyle/>
          <a:p>
            <a:pPr algn="l"/>
            <a:r>
              <a:rPr sz="4000" b="1" i="0">
                <a:solidFill>
                  <a:srgbClr val="B3261E"/>
                </a:solidFill>
                <a:latin typeface="Georgia"/>
              </a:rPr>
              <a:t>7</a:t>
            </a:r>
          </a:p>
        </p:txBody>
      </p:sp>
      <p:sp>
        <p:nvSpPr>
          <p:cNvPr id="43" name="TextBox 42"/>
          <p:cNvSpPr txBox="1"/>
          <p:nvPr/>
        </p:nvSpPr>
        <p:spPr>
          <a:xfrm>
            <a:off x="7132320" y="4123944"/>
            <a:ext cx="4663440" cy="365760"/>
          </a:xfrm>
          <a:prstGeom prst="rect">
            <a:avLst/>
          </a:prstGeom>
          <a:noFill/>
        </p:spPr>
        <p:txBody>
          <a:bodyPr wrap="square" lIns="0" rIns="0" tIns="0" bIns="0" anchor="t">
            <a:spAutoFit/>
          </a:bodyPr>
          <a:lstStyle/>
          <a:p>
            <a:pPr algn="l"/>
            <a:r>
              <a:rPr sz="2000" b="1" i="0">
                <a:solidFill>
                  <a:srgbClr val="F3EBDC"/>
                </a:solidFill>
                <a:latin typeface="Georgia"/>
              </a:rPr>
              <a:t>Always on</a:t>
            </a:r>
          </a:p>
        </p:txBody>
      </p:sp>
      <p:sp>
        <p:nvSpPr>
          <p:cNvPr id="44" name="TextBox 43"/>
          <p:cNvSpPr txBox="1"/>
          <p:nvPr/>
        </p:nvSpPr>
        <p:spPr>
          <a:xfrm>
            <a:off x="7132320" y="4517136"/>
            <a:ext cx="4663440" cy="457200"/>
          </a:xfrm>
          <a:prstGeom prst="rect">
            <a:avLst/>
          </a:prstGeom>
          <a:noFill/>
        </p:spPr>
        <p:txBody>
          <a:bodyPr wrap="square" lIns="0" rIns="0" tIns="0" bIns="0" anchor="t">
            <a:spAutoFit/>
          </a:bodyPr>
          <a:lstStyle/>
          <a:p>
            <a:pPr algn="l"/>
            <a:r>
              <a:rPr sz="1400" b="0" i="0">
                <a:solidFill>
                  <a:srgbClr val="E6DBC5"/>
                </a:solidFill>
                <a:latin typeface="Calibri"/>
              </a:rPr>
              <a:t>Releases spread across the year.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EBDC"/>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1C18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55448" y="2560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55448" y="6217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55448" y="9875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5448" y="13533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5448" y="17190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5448" y="20848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55448" y="245059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5448" y="281635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55448" y="318211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55448" y="354787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55448" y="3913631"/>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55448" y="42793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55448" y="46451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55448" y="501091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55448" y="537667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55448" y="574243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5448" y="610819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55448" y="6473952"/>
            <a:ext cx="192024" cy="137160"/>
          </a:xfrm>
          <a:prstGeom prst="roundRect">
            <a:avLst/>
          </a:prstGeom>
          <a:solidFill>
            <a:srgbClr val="F3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7200"/>
            <a:ext cx="7315200" cy="274320"/>
          </a:xfrm>
          <a:prstGeom prst="rect">
            <a:avLst/>
          </a:prstGeom>
          <a:noFill/>
        </p:spPr>
        <p:txBody>
          <a:bodyPr wrap="square" lIns="0" rIns="0" tIns="0" bIns="0" anchor="t">
            <a:spAutoFit/>
          </a:bodyPr>
          <a:lstStyle/>
          <a:p>
            <a:pPr algn="l"/>
            <a:r>
              <a:rPr sz="1200" b="1" i="0">
                <a:solidFill>
                  <a:srgbClr val="B3261E"/>
                </a:solidFill>
                <a:latin typeface="Courier New"/>
              </a:rPr>
              <a:t>HONEST LIMITS</a:t>
            </a:r>
          </a:p>
        </p:txBody>
      </p:sp>
      <p:sp>
        <p:nvSpPr>
          <p:cNvPr id="22" name="TextBox 21"/>
          <p:cNvSpPr txBox="1"/>
          <p:nvPr/>
        </p:nvSpPr>
        <p:spPr>
          <a:xfrm>
            <a:off x="9509760" y="457200"/>
            <a:ext cx="2286000" cy="274320"/>
          </a:xfrm>
          <a:prstGeom prst="rect">
            <a:avLst/>
          </a:prstGeom>
          <a:noFill/>
        </p:spPr>
        <p:txBody>
          <a:bodyPr wrap="square" lIns="0" rIns="0" tIns="0" bIns="0" anchor="t">
            <a:spAutoFit/>
          </a:bodyPr>
          <a:lstStyle/>
          <a:p>
            <a:pPr algn="r"/>
            <a:r>
              <a:rPr sz="1100" b="0" i="0">
                <a:solidFill>
                  <a:srgbClr val="8C8173"/>
                </a:solidFill>
                <a:latin typeface="Courier New"/>
              </a:rPr>
              <a:t>REEL 15 / 15</a:t>
            </a:r>
          </a:p>
        </p:txBody>
      </p:sp>
      <p:sp>
        <p:nvSpPr>
          <p:cNvPr id="23" name="TextBox 22"/>
          <p:cNvSpPr txBox="1"/>
          <p:nvPr/>
        </p:nvSpPr>
        <p:spPr>
          <a:xfrm>
            <a:off x="868680" y="804672"/>
            <a:ext cx="10881360" cy="1188720"/>
          </a:xfrm>
          <a:prstGeom prst="rect">
            <a:avLst/>
          </a:prstGeom>
          <a:noFill/>
        </p:spPr>
        <p:txBody>
          <a:bodyPr wrap="square" lIns="0" rIns="0" tIns="0" bIns="0" anchor="t">
            <a:spAutoFit/>
          </a:bodyPr>
          <a:lstStyle/>
          <a:p>
            <a:pPr algn="l">
              <a:lnSpc>
                <a:spcPct val="95000"/>
              </a:lnSpc>
            </a:pPr>
            <a:r>
              <a:rPr sz="3000" b="1" i="0">
                <a:solidFill>
                  <a:srgbClr val="1C1814"/>
                </a:solidFill>
                <a:latin typeface="Georgia"/>
              </a:rPr>
              <a:t>Caveats, and where to go next</a:t>
            </a:r>
          </a:p>
        </p:txBody>
      </p:sp>
      <p:sp>
        <p:nvSpPr>
          <p:cNvPr id="24" name="TextBox 23"/>
          <p:cNvSpPr txBox="1"/>
          <p:nvPr/>
        </p:nvSpPr>
        <p:spPr>
          <a:xfrm>
            <a:off x="868680" y="2103120"/>
            <a:ext cx="5120640" cy="274320"/>
          </a:xfrm>
          <a:prstGeom prst="rect">
            <a:avLst/>
          </a:prstGeom>
          <a:noFill/>
        </p:spPr>
        <p:txBody>
          <a:bodyPr wrap="square" lIns="0" rIns="0" tIns="0" bIns="0" anchor="t">
            <a:spAutoFit/>
          </a:bodyPr>
          <a:lstStyle/>
          <a:p>
            <a:pPr algn="l"/>
            <a:r>
              <a:rPr sz="1200" b="1" i="0">
                <a:solidFill>
                  <a:srgbClr val="B3261E"/>
                </a:solidFill>
                <a:latin typeface="Courier New"/>
              </a:rPr>
              <a:t>WHAT THIS DATA CANNOT SAY</a:t>
            </a:r>
          </a:p>
        </p:txBody>
      </p:sp>
      <p:sp>
        <p:nvSpPr>
          <p:cNvPr id="25" name="Rectangle 24"/>
          <p:cNvSpPr/>
          <p:nvPr/>
        </p:nvSpPr>
        <p:spPr>
          <a:xfrm>
            <a:off x="868680" y="2587752"/>
            <a:ext cx="128016" cy="128016"/>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88720" y="2514600"/>
            <a:ext cx="4846320" cy="822960"/>
          </a:xfrm>
          <a:prstGeom prst="rect">
            <a:avLst/>
          </a:prstGeom>
          <a:noFill/>
        </p:spPr>
        <p:txBody>
          <a:bodyPr wrap="square" lIns="0" rIns="0" tIns="0" bIns="0" anchor="t">
            <a:spAutoFit/>
          </a:bodyPr>
          <a:lstStyle/>
          <a:p>
            <a:pPr algn="l"/>
            <a:r>
              <a:rPr sz="1500" b="0" i="0">
                <a:solidFill>
                  <a:srgbClr val="1C1814"/>
                </a:solidFill>
                <a:latin typeface="Calibri"/>
              </a:rPr>
              <a:t>It lists titles, not viewing, so 'most' means 'most listed', never 'most watched'.</a:t>
            </a:r>
          </a:p>
        </p:txBody>
      </p:sp>
      <p:sp>
        <p:nvSpPr>
          <p:cNvPr id="27" name="Rectangle 26"/>
          <p:cNvSpPr/>
          <p:nvPr/>
        </p:nvSpPr>
        <p:spPr>
          <a:xfrm>
            <a:off x="868680" y="3456432"/>
            <a:ext cx="128016" cy="128016"/>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88720" y="3383280"/>
            <a:ext cx="4846320" cy="822960"/>
          </a:xfrm>
          <a:prstGeom prst="rect">
            <a:avLst/>
          </a:prstGeom>
          <a:noFill/>
        </p:spPr>
        <p:txBody>
          <a:bodyPr wrap="square" lIns="0" rIns="0" tIns="0" bIns="0" anchor="t">
            <a:spAutoFit/>
          </a:bodyPr>
          <a:lstStyle/>
          <a:p>
            <a:pPr algn="l"/>
            <a:r>
              <a:rPr sz="1500" b="0" i="0">
                <a:solidFill>
                  <a:srgbClr val="1C1814"/>
                </a:solidFill>
                <a:latin typeface="Calibri"/>
              </a:rPr>
              <a:t>Director, cast and country have gaps, so people and country rankings are lower bounds.</a:t>
            </a:r>
          </a:p>
        </p:txBody>
      </p:sp>
      <p:sp>
        <p:nvSpPr>
          <p:cNvPr id="29" name="Rectangle 28"/>
          <p:cNvSpPr/>
          <p:nvPr/>
        </p:nvSpPr>
        <p:spPr>
          <a:xfrm>
            <a:off x="868680" y="4325112"/>
            <a:ext cx="128016" cy="128016"/>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88720" y="4251960"/>
            <a:ext cx="4846320" cy="822960"/>
          </a:xfrm>
          <a:prstGeom prst="rect">
            <a:avLst/>
          </a:prstGeom>
          <a:noFill/>
        </p:spPr>
        <p:txBody>
          <a:bodyPr wrap="square" lIns="0" rIns="0" tIns="0" bIns="0" anchor="t">
            <a:spAutoFit/>
          </a:bodyPr>
          <a:lstStyle/>
          <a:p>
            <a:pPr algn="l"/>
            <a:r>
              <a:rPr sz="1500" b="0" i="0">
                <a:solidFill>
                  <a:srgbClr val="1C1814"/>
                </a:solidFill>
                <a:latin typeface="Calibri"/>
              </a:rPr>
              <a:t>Co-productions count once per country, so country totals exceed the title count.</a:t>
            </a:r>
          </a:p>
        </p:txBody>
      </p:sp>
      <p:sp>
        <p:nvSpPr>
          <p:cNvPr id="31" name="Rectangle 30"/>
          <p:cNvSpPr/>
          <p:nvPr/>
        </p:nvSpPr>
        <p:spPr>
          <a:xfrm>
            <a:off x="868680" y="5193792"/>
            <a:ext cx="128016" cy="128016"/>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88720" y="5120640"/>
            <a:ext cx="4846320" cy="822960"/>
          </a:xfrm>
          <a:prstGeom prst="rect">
            <a:avLst/>
          </a:prstGeom>
          <a:noFill/>
        </p:spPr>
        <p:txBody>
          <a:bodyPr wrap="square" lIns="0" rIns="0" tIns="0" bIns="0" anchor="t">
            <a:spAutoFit/>
          </a:bodyPr>
          <a:lstStyle/>
          <a:p>
            <a:pPr algn="l"/>
            <a:r>
              <a:rPr sz="1500" b="0" i="0">
                <a:solidFill>
                  <a:srgbClr val="1C1814"/>
                </a:solidFill>
                <a:latin typeface="Calibri"/>
              </a:rPr>
              <a:t>The snapshot ends in September 2021; the 2021 bar is a partial year.</a:t>
            </a:r>
          </a:p>
        </p:txBody>
      </p:sp>
      <p:sp>
        <p:nvSpPr>
          <p:cNvPr id="33" name="TextBox 32"/>
          <p:cNvSpPr txBox="1"/>
          <p:nvPr/>
        </p:nvSpPr>
        <p:spPr>
          <a:xfrm>
            <a:off x="6583680" y="2103120"/>
            <a:ext cx="5120640" cy="274320"/>
          </a:xfrm>
          <a:prstGeom prst="rect">
            <a:avLst/>
          </a:prstGeom>
          <a:noFill/>
        </p:spPr>
        <p:txBody>
          <a:bodyPr wrap="square" lIns="0" rIns="0" tIns="0" bIns="0" anchor="t">
            <a:spAutoFit/>
          </a:bodyPr>
          <a:lstStyle/>
          <a:p>
            <a:pPr algn="l"/>
            <a:r>
              <a:rPr sz="1200" b="1" i="0">
                <a:solidFill>
                  <a:srgbClr val="B3261E"/>
                </a:solidFill>
                <a:latin typeface="Courier New"/>
              </a:rPr>
              <a:t>NEXT STEPS</a:t>
            </a:r>
          </a:p>
        </p:txBody>
      </p:sp>
      <p:sp>
        <p:nvSpPr>
          <p:cNvPr id="34" name="Rectangle 33"/>
          <p:cNvSpPr/>
          <p:nvPr/>
        </p:nvSpPr>
        <p:spPr>
          <a:xfrm>
            <a:off x="6583680" y="2514600"/>
            <a:ext cx="5166360" cy="868680"/>
          </a:xfrm>
          <a:prstGeom prst="rect">
            <a:avLst/>
          </a:prstGeom>
          <a:noFill/>
          <a:ln w="15875">
            <a:solidFill>
              <a:srgbClr val="1C18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0" y="2642616"/>
            <a:ext cx="457200" cy="548640"/>
          </a:xfrm>
          <a:prstGeom prst="rect">
            <a:avLst/>
          </a:prstGeom>
          <a:noFill/>
        </p:spPr>
        <p:txBody>
          <a:bodyPr wrap="square" lIns="0" rIns="0" tIns="0" bIns="0" anchor="t">
            <a:spAutoFit/>
          </a:bodyPr>
          <a:lstStyle/>
          <a:p>
            <a:pPr algn="l"/>
            <a:r>
              <a:rPr sz="2600" b="1" i="0">
                <a:solidFill>
                  <a:srgbClr val="D69E2E"/>
                </a:solidFill>
                <a:latin typeface="Georgia"/>
              </a:rPr>
              <a:t>1</a:t>
            </a:r>
          </a:p>
        </p:txBody>
      </p:sp>
      <p:sp>
        <p:nvSpPr>
          <p:cNvPr id="36" name="TextBox 35"/>
          <p:cNvSpPr txBox="1"/>
          <p:nvPr/>
        </p:nvSpPr>
        <p:spPr>
          <a:xfrm>
            <a:off x="7315200" y="2670048"/>
            <a:ext cx="4297680" cy="640080"/>
          </a:xfrm>
          <a:prstGeom prst="rect">
            <a:avLst/>
          </a:prstGeom>
          <a:noFill/>
        </p:spPr>
        <p:txBody>
          <a:bodyPr wrap="square" lIns="0" rIns="0" tIns="0" bIns="0" anchor="t">
            <a:spAutoFit/>
          </a:bodyPr>
          <a:lstStyle/>
          <a:p>
            <a:pPr algn="l"/>
            <a:r>
              <a:rPr sz="1500" b="0" i="0">
                <a:solidFill>
                  <a:srgbClr val="1C1814"/>
                </a:solidFill>
                <a:latin typeface="Calibri"/>
              </a:rPr>
              <a:t>Join viewing hours or IMDb scores to separate listed from loved.</a:t>
            </a:r>
          </a:p>
        </p:txBody>
      </p:sp>
      <p:sp>
        <p:nvSpPr>
          <p:cNvPr id="37" name="Rectangle 36"/>
          <p:cNvSpPr/>
          <p:nvPr/>
        </p:nvSpPr>
        <p:spPr>
          <a:xfrm>
            <a:off x="6583680" y="3520440"/>
            <a:ext cx="5166360" cy="868680"/>
          </a:xfrm>
          <a:prstGeom prst="rect">
            <a:avLst/>
          </a:prstGeom>
          <a:noFill/>
          <a:ln w="15875">
            <a:solidFill>
              <a:srgbClr val="1C18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766560" y="3648456"/>
            <a:ext cx="457200" cy="548640"/>
          </a:xfrm>
          <a:prstGeom prst="rect">
            <a:avLst/>
          </a:prstGeom>
          <a:noFill/>
        </p:spPr>
        <p:txBody>
          <a:bodyPr wrap="square" lIns="0" rIns="0" tIns="0" bIns="0" anchor="t">
            <a:spAutoFit/>
          </a:bodyPr>
          <a:lstStyle/>
          <a:p>
            <a:pPr algn="l"/>
            <a:r>
              <a:rPr sz="2600" b="1" i="0">
                <a:solidFill>
                  <a:srgbClr val="D69E2E"/>
                </a:solidFill>
                <a:latin typeface="Georgia"/>
              </a:rPr>
              <a:t>2</a:t>
            </a:r>
          </a:p>
        </p:txBody>
      </p:sp>
      <p:sp>
        <p:nvSpPr>
          <p:cNvPr id="39" name="TextBox 38"/>
          <p:cNvSpPr txBox="1"/>
          <p:nvPr/>
        </p:nvSpPr>
        <p:spPr>
          <a:xfrm>
            <a:off x="7315200" y="3675888"/>
            <a:ext cx="4297680" cy="640080"/>
          </a:xfrm>
          <a:prstGeom prst="rect">
            <a:avLst/>
          </a:prstGeom>
          <a:noFill/>
        </p:spPr>
        <p:txBody>
          <a:bodyPr wrap="square" lIns="0" rIns="0" tIns="0" bIns="0" anchor="t">
            <a:spAutoFit/>
          </a:bodyPr>
          <a:lstStyle/>
          <a:p>
            <a:pPr algn="l"/>
            <a:r>
              <a:rPr sz="1500" b="0" i="0">
                <a:solidFill>
                  <a:srgbClr val="1C1814"/>
                </a:solidFill>
                <a:latin typeface="Calibri"/>
              </a:rPr>
              <a:t>Mine the description text to cluster themes.</a:t>
            </a:r>
          </a:p>
        </p:txBody>
      </p:sp>
      <p:sp>
        <p:nvSpPr>
          <p:cNvPr id="40" name="Rectangle 39"/>
          <p:cNvSpPr/>
          <p:nvPr/>
        </p:nvSpPr>
        <p:spPr>
          <a:xfrm>
            <a:off x="6583680" y="4526280"/>
            <a:ext cx="5166360" cy="868680"/>
          </a:xfrm>
          <a:prstGeom prst="rect">
            <a:avLst/>
          </a:prstGeom>
          <a:noFill/>
          <a:ln w="15875">
            <a:solidFill>
              <a:srgbClr val="1C18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66560" y="4654296"/>
            <a:ext cx="457200" cy="548640"/>
          </a:xfrm>
          <a:prstGeom prst="rect">
            <a:avLst/>
          </a:prstGeom>
          <a:noFill/>
        </p:spPr>
        <p:txBody>
          <a:bodyPr wrap="square" lIns="0" rIns="0" tIns="0" bIns="0" anchor="t">
            <a:spAutoFit/>
          </a:bodyPr>
          <a:lstStyle/>
          <a:p>
            <a:pPr algn="l"/>
            <a:r>
              <a:rPr sz="2600" b="1" i="0">
                <a:solidFill>
                  <a:srgbClr val="D69E2E"/>
                </a:solidFill>
                <a:latin typeface="Georgia"/>
              </a:rPr>
              <a:t>3</a:t>
            </a:r>
          </a:p>
        </p:txBody>
      </p:sp>
      <p:sp>
        <p:nvSpPr>
          <p:cNvPr id="42" name="TextBox 41"/>
          <p:cNvSpPr txBox="1"/>
          <p:nvPr/>
        </p:nvSpPr>
        <p:spPr>
          <a:xfrm>
            <a:off x="7315200" y="4681728"/>
            <a:ext cx="4297680" cy="640080"/>
          </a:xfrm>
          <a:prstGeom prst="rect">
            <a:avLst/>
          </a:prstGeom>
          <a:noFill/>
        </p:spPr>
        <p:txBody>
          <a:bodyPr wrap="square" lIns="0" rIns="0" tIns="0" bIns="0" anchor="t">
            <a:spAutoFit/>
          </a:bodyPr>
          <a:lstStyle/>
          <a:p>
            <a:pPr algn="l"/>
            <a:r>
              <a:rPr sz="1500" b="0" i="0">
                <a:solidFill>
                  <a:srgbClr val="1C1814"/>
                </a:solidFill>
                <a:latin typeface="Calibri"/>
              </a:rPr>
              <a:t>Forecast yearly additions, allowing for the 2020 shock.</a:t>
            </a:r>
          </a:p>
        </p:txBody>
      </p:sp>
      <p:sp>
        <p:nvSpPr>
          <p:cNvPr id="43" name="TextBox 42"/>
          <p:cNvSpPr txBox="1"/>
          <p:nvPr/>
        </p:nvSpPr>
        <p:spPr>
          <a:xfrm>
            <a:off x="868680" y="6446520"/>
            <a:ext cx="8229600" cy="228600"/>
          </a:xfrm>
          <a:prstGeom prst="rect">
            <a:avLst/>
          </a:prstGeom>
          <a:noFill/>
        </p:spPr>
        <p:txBody>
          <a:bodyPr wrap="square" lIns="0" rIns="0" tIns="0" bIns="0" anchor="t">
            <a:spAutoFit/>
          </a:bodyPr>
          <a:lstStyle/>
          <a:p>
            <a:pPr algn="l"/>
            <a:r>
              <a:rPr sz="900" b="0" i="0">
                <a:solidFill>
                  <a:srgbClr val="8C8173"/>
                </a:solidFill>
                <a:latin typeface="Courier New"/>
              </a:rPr>
              <a:t>Code: netflix_eda.ipynb  ·  Data: netflix_data.csv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